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9d9cb9caee486c" /><Relationship Type="http://schemas.openxmlformats.org/officeDocument/2006/relationships/extended-properties" Target="/docProps/app.xml" Id="R2c6b6632710a4a02" /><Relationship Type="http://schemas.openxmlformats.org/officeDocument/2006/relationships/officeDocument" Target="/ppt/presentation.xml" Id="R7d5935b52f4249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e9822f413947a2"/>
  </p:sldMasterIdLst>
  <p:notesMasterIdLst>
    <p:notesMasterId xmlns:r="http://schemas.openxmlformats.org/officeDocument/2006/relationships" r:id="R0c1def137c414483"/>
  </p:notesMasterIdLst>
  <p:sldIdLst>
    <p:sldId xmlns:r="http://schemas.openxmlformats.org/officeDocument/2006/relationships" id="256" r:id="Rb962acf617854070"/>
    <p:sldId xmlns:r="http://schemas.openxmlformats.org/officeDocument/2006/relationships" id="257" r:id="R1f1cc38ef5f24e59"/>
    <p:sldId xmlns:r="http://schemas.openxmlformats.org/officeDocument/2006/relationships" id="258" r:id="R5954096b0ce44692"/>
    <p:sldId xmlns:r="http://schemas.openxmlformats.org/officeDocument/2006/relationships" id="259" r:id="Rf4cf7d7a7088470c"/>
    <p:sldId xmlns:r="http://schemas.openxmlformats.org/officeDocument/2006/relationships" id="260" r:id="R6bec8e32a2a347cb"/>
    <p:sldId xmlns:r="http://schemas.openxmlformats.org/officeDocument/2006/relationships" id="261" r:id="R8656e6757435458b"/>
    <p:sldId xmlns:r="http://schemas.openxmlformats.org/officeDocument/2006/relationships" id="262" r:id="R2e2a60763a014f7e"/>
    <p:sldId xmlns:r="http://schemas.openxmlformats.org/officeDocument/2006/relationships" id="263" r:id="R11fca7771d164f14"/>
    <p:sldId xmlns:r="http://schemas.openxmlformats.org/officeDocument/2006/relationships" id="264" r:id="R310183b0fd19471a"/>
    <p:sldId xmlns:r="http://schemas.openxmlformats.org/officeDocument/2006/relationships" id="265" r:id="R0f9ca98c625c4b8c"/>
    <p:sldId xmlns:r="http://schemas.openxmlformats.org/officeDocument/2006/relationships" id="266" r:id="R9ee288d55f944832"/>
    <p:sldId xmlns:r="http://schemas.openxmlformats.org/officeDocument/2006/relationships" id="267" r:id="R72945035a2444784"/>
    <p:sldId xmlns:r="http://schemas.openxmlformats.org/officeDocument/2006/relationships" id="268" r:id="R49927b4ea1354bfe"/>
    <p:sldId xmlns:r="http://schemas.openxmlformats.org/officeDocument/2006/relationships" id="269" r:id="R9d2f31f8aed44a48"/>
    <p:sldId xmlns:r="http://schemas.openxmlformats.org/officeDocument/2006/relationships" id="270" r:id="R88e44e2c146e4119"/>
    <p:sldId xmlns:r="http://schemas.openxmlformats.org/officeDocument/2006/relationships" id="271" r:id="R887f3ac5a5b948d1"/>
    <p:sldId xmlns:r="http://schemas.openxmlformats.org/officeDocument/2006/relationships" id="272" r:id="R53ca3c25459e43ea"/>
    <p:sldId xmlns:r="http://schemas.openxmlformats.org/officeDocument/2006/relationships" id="273" r:id="R29e97dc8dd2f478d"/>
    <p:sldId xmlns:r="http://schemas.openxmlformats.org/officeDocument/2006/relationships" id="274" r:id="Rd643d0dbd10b4f3e"/>
    <p:sldId xmlns:r="http://schemas.openxmlformats.org/officeDocument/2006/relationships" id="275" r:id="Reb281bba06b14c02"/>
    <p:sldId xmlns:r="http://schemas.openxmlformats.org/officeDocument/2006/relationships" id="276" r:id="Rcd222b3b6ce549f6"/>
    <p:sldId xmlns:r="http://schemas.openxmlformats.org/officeDocument/2006/relationships" id="277" r:id="Rdf63b4ba48d54e63"/>
    <p:sldId xmlns:r="http://schemas.openxmlformats.org/officeDocument/2006/relationships" id="278" r:id="R3cd2b046d1b04384"/>
    <p:sldId xmlns:r="http://schemas.openxmlformats.org/officeDocument/2006/relationships" id="279" r:id="R5669c3caff674a7a"/>
    <p:sldId xmlns:r="http://schemas.openxmlformats.org/officeDocument/2006/relationships" id="280" r:id="R51c292f6df0743e0"/>
    <p:sldId xmlns:r="http://schemas.openxmlformats.org/officeDocument/2006/relationships" id="281" r:id="R6dc30a2c76c04ed8"/>
    <p:sldId xmlns:r="http://schemas.openxmlformats.org/officeDocument/2006/relationships" id="282" r:id="R2c98be33ace84c64"/>
    <p:sldId xmlns:r="http://schemas.openxmlformats.org/officeDocument/2006/relationships" id="283" r:id="R63ec54074bff4fc6"/>
    <p:sldId xmlns:r="http://schemas.openxmlformats.org/officeDocument/2006/relationships" id="284" r:id="R16d6da4482054311"/>
    <p:sldId xmlns:r="http://schemas.openxmlformats.org/officeDocument/2006/relationships" id="285" r:id="Ra966f96033cb47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815f3e69364a37" /><Relationship Type="http://schemas.openxmlformats.org/officeDocument/2006/relationships/slideMaster" Target="/ppt/slideMasters/slideMaster1.xml" Id="R55e9822f413947a2" /><Relationship Type="http://schemas.openxmlformats.org/officeDocument/2006/relationships/notesMaster" Target="/ppt/notesMasters/notesMaster1.xml" Id="R0c1def137c414483" /><Relationship Type="http://schemas.openxmlformats.org/officeDocument/2006/relationships/presProps" Target="/ppt/presProps.xml" Id="Rc22ba0094a48431d" /><Relationship Type="http://schemas.openxmlformats.org/officeDocument/2006/relationships/tableStyles" Target="/ppt/tableStyles.xml" Id="R722534f5c8ab49ff" /><Relationship Type="http://schemas.openxmlformats.org/officeDocument/2006/relationships/slide" Target="/ppt/slides/slide1.xml" Id="Rb962acf617854070" /><Relationship Type="http://schemas.openxmlformats.org/officeDocument/2006/relationships/slide" Target="/ppt/slides/slide2.xml" Id="R1f1cc38ef5f24e59" /><Relationship Type="http://schemas.openxmlformats.org/officeDocument/2006/relationships/slide" Target="/ppt/slides/slide3.xml" Id="R5954096b0ce44692" /><Relationship Type="http://schemas.openxmlformats.org/officeDocument/2006/relationships/slide" Target="/ppt/slides/slide4.xml" Id="Rf4cf7d7a7088470c" /><Relationship Type="http://schemas.openxmlformats.org/officeDocument/2006/relationships/slide" Target="/ppt/slides/slide5.xml" Id="R6bec8e32a2a347cb" /><Relationship Type="http://schemas.openxmlformats.org/officeDocument/2006/relationships/slide" Target="/ppt/slides/slide6.xml" Id="R8656e6757435458b" /><Relationship Type="http://schemas.openxmlformats.org/officeDocument/2006/relationships/slide" Target="/ppt/slides/slide7.xml" Id="R2e2a60763a014f7e" /><Relationship Type="http://schemas.openxmlformats.org/officeDocument/2006/relationships/slide" Target="/ppt/slides/slide8.xml" Id="R11fca7771d164f14" /><Relationship Type="http://schemas.openxmlformats.org/officeDocument/2006/relationships/slide" Target="/ppt/slides/slide9.xml" Id="R310183b0fd19471a" /><Relationship Type="http://schemas.openxmlformats.org/officeDocument/2006/relationships/slide" Target="/ppt/slides/slide10.xml" Id="R0f9ca98c625c4b8c" /><Relationship Type="http://schemas.openxmlformats.org/officeDocument/2006/relationships/slide" Target="/ppt/slides/slide11.xml" Id="R9ee288d55f944832" /><Relationship Type="http://schemas.openxmlformats.org/officeDocument/2006/relationships/slide" Target="/ppt/slides/slide12.xml" Id="R72945035a2444784" /><Relationship Type="http://schemas.openxmlformats.org/officeDocument/2006/relationships/slide" Target="/ppt/slides/slide13.xml" Id="R49927b4ea1354bfe" /><Relationship Type="http://schemas.openxmlformats.org/officeDocument/2006/relationships/slide" Target="/ppt/slides/slide14.xml" Id="R9d2f31f8aed44a48" /><Relationship Type="http://schemas.openxmlformats.org/officeDocument/2006/relationships/slide" Target="/ppt/slides/slide15.xml" Id="R88e44e2c146e4119" /><Relationship Type="http://schemas.openxmlformats.org/officeDocument/2006/relationships/slide" Target="/ppt/slides/slide16.xml" Id="R887f3ac5a5b948d1" /><Relationship Type="http://schemas.openxmlformats.org/officeDocument/2006/relationships/slide" Target="/ppt/slides/slide17.xml" Id="R53ca3c25459e43ea" /><Relationship Type="http://schemas.openxmlformats.org/officeDocument/2006/relationships/slide" Target="/ppt/slides/slide18.xml" Id="R29e97dc8dd2f478d" /><Relationship Type="http://schemas.openxmlformats.org/officeDocument/2006/relationships/slide" Target="/ppt/slides/slide19.xml" Id="Rd643d0dbd10b4f3e" /><Relationship Type="http://schemas.openxmlformats.org/officeDocument/2006/relationships/slide" Target="/ppt/slides/slide20.xml" Id="Reb281bba06b14c02" /><Relationship Type="http://schemas.openxmlformats.org/officeDocument/2006/relationships/slide" Target="/ppt/slides/slide21.xml" Id="Rcd222b3b6ce549f6" /><Relationship Type="http://schemas.openxmlformats.org/officeDocument/2006/relationships/slide" Target="/ppt/slides/slide22.xml" Id="Rdf63b4ba48d54e63" /><Relationship Type="http://schemas.openxmlformats.org/officeDocument/2006/relationships/slide" Target="/ppt/slides/slide23.xml" Id="R3cd2b046d1b04384" /><Relationship Type="http://schemas.openxmlformats.org/officeDocument/2006/relationships/slide" Target="/ppt/slides/slide24.xml" Id="R5669c3caff674a7a" /><Relationship Type="http://schemas.openxmlformats.org/officeDocument/2006/relationships/slide" Target="/ppt/slides/slide25.xml" Id="R51c292f6df0743e0" /><Relationship Type="http://schemas.openxmlformats.org/officeDocument/2006/relationships/slide" Target="/ppt/slides/slide26.xml" Id="R6dc30a2c76c04ed8" /><Relationship Type="http://schemas.openxmlformats.org/officeDocument/2006/relationships/slide" Target="/ppt/slides/slide27.xml" Id="R2c98be33ace84c64" /><Relationship Type="http://schemas.openxmlformats.org/officeDocument/2006/relationships/slide" Target="/ppt/slides/slide28.xml" Id="R63ec54074bff4fc6" /><Relationship Type="http://schemas.openxmlformats.org/officeDocument/2006/relationships/slide" Target="/ppt/slides/slide29.xml" Id="R16d6da4482054311" /><Relationship Type="http://schemas.openxmlformats.org/officeDocument/2006/relationships/slide" Target="/ppt/slides/slide30.xml" Id="Ra966f96033cb47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ce4b4cad3744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e6fad55de94b81" /><Relationship Type="http://schemas.openxmlformats.org/officeDocument/2006/relationships/notesMaster" Target="/ppt/notesMasters/notesMaster1.xml" Id="R5829f183fbca47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053b1a63634ff5" /><Relationship Type="http://schemas.openxmlformats.org/officeDocument/2006/relationships/notesMaster" Target="/ppt/notesMasters/notesMaster1.xml" Id="Rb8942f20f64c4c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7db6afe7e64b61" /><Relationship Type="http://schemas.openxmlformats.org/officeDocument/2006/relationships/notesMaster" Target="/ppt/notesMasters/notesMaster1.xml" Id="R0440956f536344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fb30312563444b" /><Relationship Type="http://schemas.openxmlformats.org/officeDocument/2006/relationships/notesMaster" Target="/ppt/notesMasters/notesMaster1.xml" Id="R7f10f87704c541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133b71816147e9" /><Relationship Type="http://schemas.openxmlformats.org/officeDocument/2006/relationships/notesMaster" Target="/ppt/notesMasters/notesMaster1.xml" Id="R56844082c71b47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0f7d99eb5d4de8" /><Relationship Type="http://schemas.openxmlformats.org/officeDocument/2006/relationships/notesMaster" Target="/ppt/notesMasters/notesMaster1.xml" Id="R5dddf19952a448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5a62f5a6b14528" /><Relationship Type="http://schemas.openxmlformats.org/officeDocument/2006/relationships/notesMaster" Target="/ppt/notesMasters/notesMaster1.xml" Id="Rf9d52b25a6794a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eb3d2c28884119" /><Relationship Type="http://schemas.openxmlformats.org/officeDocument/2006/relationships/notesMaster" Target="/ppt/notesMasters/notesMaster1.xml" Id="Ra844dea5c3ff47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f488d62fd44111" /><Relationship Type="http://schemas.openxmlformats.org/officeDocument/2006/relationships/notesMaster" Target="/ppt/notesMasters/notesMaster1.xml" Id="Rc56d85de1de048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5a2b969e314678" /><Relationship Type="http://schemas.openxmlformats.org/officeDocument/2006/relationships/notesMaster" Target="/ppt/notesMasters/notesMaster1.xml" Id="Ra165f814ea284c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4877df52dd440e" /><Relationship Type="http://schemas.openxmlformats.org/officeDocument/2006/relationships/notesMaster" Target="/ppt/notesMasters/notesMaster1.xml" Id="R941da54d2e4741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5df83a1a6f4232" /><Relationship Type="http://schemas.openxmlformats.org/officeDocument/2006/relationships/notesMaster" Target="/ppt/notesMasters/notesMaster1.xml" Id="Rac63d2c4e9a54ae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0d7cc4fea2847ce" /><Relationship Type="http://schemas.openxmlformats.org/officeDocument/2006/relationships/notesMaster" Target="/ppt/notesMasters/notesMaster1.xml" Id="R62ee180f3ce846d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3e1cd8d1ea04c6b" /><Relationship Type="http://schemas.openxmlformats.org/officeDocument/2006/relationships/notesMaster" Target="/ppt/notesMasters/notesMaster1.xml" Id="R4103c3c481104d8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932c36dc3604fdf" /><Relationship Type="http://schemas.openxmlformats.org/officeDocument/2006/relationships/notesMaster" Target="/ppt/notesMasters/notesMaster1.xml" Id="Rcc500acbd3074ec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177ab7094f54b80" /><Relationship Type="http://schemas.openxmlformats.org/officeDocument/2006/relationships/notesMaster" Target="/ppt/notesMasters/notesMaster1.xml" Id="R7d2a3e2a3eca4f0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26ab09cd8f54b86" /><Relationship Type="http://schemas.openxmlformats.org/officeDocument/2006/relationships/notesMaster" Target="/ppt/notesMasters/notesMaster1.xml" Id="Ra98a386b44e44b1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8b7169d011e4289" /><Relationship Type="http://schemas.openxmlformats.org/officeDocument/2006/relationships/notesMaster" Target="/ppt/notesMasters/notesMaster1.xml" Id="R5d1d08257a5e457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c2e5ab137a94b0a" /><Relationship Type="http://schemas.openxmlformats.org/officeDocument/2006/relationships/notesMaster" Target="/ppt/notesMasters/notesMaster1.xml" Id="R86c5a9815fd64e3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049e4b37fdf423d" /><Relationship Type="http://schemas.openxmlformats.org/officeDocument/2006/relationships/notesMaster" Target="/ppt/notesMasters/notesMaster1.xml" Id="Rb6294995ae614f8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c37d2f3de05469e" /><Relationship Type="http://schemas.openxmlformats.org/officeDocument/2006/relationships/notesMaster" Target="/ppt/notesMasters/notesMaster1.xml" Id="Ra94a8f3f88b74c6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6232543a9e741fa" /><Relationship Type="http://schemas.openxmlformats.org/officeDocument/2006/relationships/notesMaster" Target="/ppt/notesMasters/notesMaster1.xml" Id="R9c71b2e334d848d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fe6b3750d0547ac" /><Relationship Type="http://schemas.openxmlformats.org/officeDocument/2006/relationships/notesMaster" Target="/ppt/notesMasters/notesMaster1.xml" Id="R4bd2c863f1db43b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3895130232c47a0" /><Relationship Type="http://schemas.openxmlformats.org/officeDocument/2006/relationships/notesMaster" Target="/ppt/notesMasters/notesMaster1.xml" Id="R6940c5ee1b3b437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f3df25998084257" /><Relationship Type="http://schemas.openxmlformats.org/officeDocument/2006/relationships/notesMaster" Target="/ppt/notesMasters/notesMaster1.xml" Id="R7c708f4470b748e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efdba243116403c" /><Relationship Type="http://schemas.openxmlformats.org/officeDocument/2006/relationships/notesMaster" Target="/ppt/notesMasters/notesMaster1.xml" Id="R7fee9706598e4c1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b09f773977d40ab" /><Relationship Type="http://schemas.openxmlformats.org/officeDocument/2006/relationships/notesMaster" Target="/ppt/notesMasters/notesMaster1.xml" Id="R5987eb43057442d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a8ec4d75a944c53" /><Relationship Type="http://schemas.openxmlformats.org/officeDocument/2006/relationships/notesMaster" Target="/ppt/notesMasters/notesMaster1.xml" Id="Rfe87b2435f7840a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44c401662cc4c8f" /><Relationship Type="http://schemas.openxmlformats.org/officeDocument/2006/relationships/notesMaster" Target="/ppt/notesMasters/notesMaster1.xml" Id="R7d85ebe5bf234cd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3a69b70e2af4a40" /><Relationship Type="http://schemas.openxmlformats.org/officeDocument/2006/relationships/notesMaster" Target="/ppt/notesMasters/notesMaster1.xml" Id="Rb9e9b4302d4c42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1cbddc030841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5fc79d38644b83" /><Relationship Type="http://schemas.openxmlformats.org/officeDocument/2006/relationships/slideLayout" Target="/ppt/slideLayouts/slideLayout1.xml" Id="R9df066bbbe0045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f066bbbe0045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afafeabad48cb" /><Relationship Type="http://schemas.openxmlformats.org/officeDocument/2006/relationships/notesSlide" Target="/ppt/notesSlides/notesSlide1.xml" Id="Rc290b947737342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7f840e4a04b17" /><Relationship Type="http://schemas.openxmlformats.org/officeDocument/2006/relationships/notesSlide" Target="/ppt/notesSlides/notesSlide2.xml" Id="R3eb9ea3a2a1342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3a6a9259e4abf" /><Relationship Type="http://schemas.openxmlformats.org/officeDocument/2006/relationships/notesSlide" Target="/ppt/notesSlides/notesSlide3.xml" Id="R24bb97e1f27e44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5795449c24182" /><Relationship Type="http://schemas.openxmlformats.org/officeDocument/2006/relationships/notesSlide" Target="/ppt/notesSlides/notesSlide4.xml" Id="Rf7a222cb947948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5cc210f2a4386" /><Relationship Type="http://schemas.openxmlformats.org/officeDocument/2006/relationships/notesSlide" Target="/ppt/notesSlides/notesSlide5.xml" Id="R3ddb992729b14a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4679d81154e1d" /><Relationship Type="http://schemas.openxmlformats.org/officeDocument/2006/relationships/notesSlide" Target="/ppt/notesSlides/notesSlide6.xml" Id="R69a011ebb11f46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e45dbe0384fc4" /><Relationship Type="http://schemas.openxmlformats.org/officeDocument/2006/relationships/notesSlide" Target="/ppt/notesSlides/notesSlide7.xml" Id="R045a3fd5120f4b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54376d1324259" /><Relationship Type="http://schemas.openxmlformats.org/officeDocument/2006/relationships/notesSlide" Target="/ppt/notesSlides/notesSlide8.xml" Id="R0ee0cb6ae92542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d32b3d0534681" /><Relationship Type="http://schemas.openxmlformats.org/officeDocument/2006/relationships/notesSlide" Target="/ppt/notesSlides/notesSlide9.xml" Id="Rd2496a31682245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fcf6abdf84d8a" /><Relationship Type="http://schemas.openxmlformats.org/officeDocument/2006/relationships/notesSlide" Target="/ppt/notesSlides/notesSlide10.xml" Id="R64596ed1e55241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412342618488f" /><Relationship Type="http://schemas.openxmlformats.org/officeDocument/2006/relationships/notesSlide" Target="/ppt/notesSlides/notesSlide11.xml" Id="R5dcc234b174849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3297ac85448fa" /><Relationship Type="http://schemas.openxmlformats.org/officeDocument/2006/relationships/notesSlide" Target="/ppt/notesSlides/notesSlide12.xml" Id="R965b57428fb04bd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6f7b3f12b491a" /><Relationship Type="http://schemas.openxmlformats.org/officeDocument/2006/relationships/notesSlide" Target="/ppt/notesSlides/notesSlide13.xml" Id="Rcff3ba7c2865461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1e9bac65c4752" /><Relationship Type="http://schemas.openxmlformats.org/officeDocument/2006/relationships/notesSlide" Target="/ppt/notesSlides/notesSlide14.xml" Id="R48a9d2f0f0d04c5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8194fbfbe43f3" /><Relationship Type="http://schemas.openxmlformats.org/officeDocument/2006/relationships/notesSlide" Target="/ppt/notesSlides/notesSlide15.xml" Id="R7395ad1b96cf458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eb1c1fae54d78" /><Relationship Type="http://schemas.openxmlformats.org/officeDocument/2006/relationships/notesSlide" Target="/ppt/notesSlides/notesSlide16.xml" Id="R71db362aedbb489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02def97564f06" /><Relationship Type="http://schemas.openxmlformats.org/officeDocument/2006/relationships/notesSlide" Target="/ppt/notesSlides/notesSlide17.xml" Id="R44165c6cc44d4d9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94d76fc6a4f85" /><Relationship Type="http://schemas.openxmlformats.org/officeDocument/2006/relationships/notesSlide" Target="/ppt/notesSlides/notesSlide18.xml" Id="Rc4c68a2a00aa461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39eba73804c65" /><Relationship Type="http://schemas.openxmlformats.org/officeDocument/2006/relationships/notesSlide" Target="/ppt/notesSlides/notesSlide19.xml" Id="R9ed19074fabd4eb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2926597fd48dd" /><Relationship Type="http://schemas.openxmlformats.org/officeDocument/2006/relationships/notesSlide" Target="/ppt/notesSlides/notesSlide20.xml" Id="R3d51d58c39fc47c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58ceee5d24513" /><Relationship Type="http://schemas.openxmlformats.org/officeDocument/2006/relationships/notesSlide" Target="/ppt/notesSlides/notesSlide21.xml" Id="R88849408472f4c1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5cf2b14ac4657" /><Relationship Type="http://schemas.openxmlformats.org/officeDocument/2006/relationships/notesSlide" Target="/ppt/notesSlides/notesSlide22.xml" Id="Re72bb392ce854a0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aaf833f664f58" /><Relationship Type="http://schemas.openxmlformats.org/officeDocument/2006/relationships/notesSlide" Target="/ppt/notesSlides/notesSlide23.xml" Id="R9302125f2e604bd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bfcba076142ce" /><Relationship Type="http://schemas.openxmlformats.org/officeDocument/2006/relationships/notesSlide" Target="/ppt/notesSlides/notesSlide24.xml" Id="R7e0cc060b75542a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6778d3ea94df6" /><Relationship Type="http://schemas.openxmlformats.org/officeDocument/2006/relationships/notesSlide" Target="/ppt/notesSlides/notesSlide25.xml" Id="Red4af38ce9fd4ff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6e08f9375421d" /><Relationship Type="http://schemas.openxmlformats.org/officeDocument/2006/relationships/notesSlide" Target="/ppt/notesSlides/notesSlide26.xml" Id="R3012fdff5d3e49b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09e402e4c4468" /><Relationship Type="http://schemas.openxmlformats.org/officeDocument/2006/relationships/notesSlide" Target="/ppt/notesSlides/notesSlide27.xml" Id="R88e4822307ea4be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7e685a557460f" /><Relationship Type="http://schemas.openxmlformats.org/officeDocument/2006/relationships/notesSlide" Target="/ppt/notesSlides/notesSlide28.xml" Id="R6d8d0e519bad41b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1a493df4d4da4" /><Relationship Type="http://schemas.openxmlformats.org/officeDocument/2006/relationships/notesSlide" Target="/ppt/notesSlides/notesSlide29.xml" Id="R637393c2893e478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3aa5d73e94341" /><Relationship Type="http://schemas.openxmlformats.org/officeDocument/2006/relationships/notesSlide" Target="/ppt/notesSlides/notesSlide30.xml" Id="R959ab698a17140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80396-7172-4BF8-BB7A-B892B728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0D8AF-06DD-42CC-9B79-5335178F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2E0B8"/>
                </a:solidFill>
              </a:defRPr>
            </a:pPr>
            <a:r>
              <a:rPr sz="1350" b="1">
                <a:solidFill>
                  <a:srgbClr val="72E0B8"/>
                </a:solidFill>
              </a:rPr>
              <a:t>第 2 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8EFA9-E379-4F89-82B9-F0A800D6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函数、字符串与容器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91BE9-6741-4471-8920-CAD1F301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9D6E2"/>
                </a:solidFill>
              </a:defRPr>
            </a:pPr>
            <a:r>
              <a:rPr sz="2100" b="0">
                <a:solidFill>
                  <a:srgbClr val="C9D6E2"/>
                </a:solidFill>
              </a:rPr>
              <a:t>把重复步骤命名，把一组数据管理起来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26A70-0A27-4EA1-97A5-DC385930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7429500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1F4E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0FBBE-90F9-4EA1-9A04-8097CBF9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481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今天的目标：做出一个能读入、统计并解释成绩的程序。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47C54-DAA8-4154-B9B8-051FC38E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293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3C8"/>
                </a:solidFill>
              </a:defRPr>
            </a:pPr>
            <a:r>
              <a:rPr sz="1050" b="0">
                <a:solidFill>
                  <a:srgbClr val="9FB3C8"/>
                </a:solidFill>
              </a:rPr>
              <a:t>暑期技术实践培训 · 90 分钟课堂</a:t>
            </a:r>
          </a:p>
        </p:txBody>
      </p:sp>
    </p:spTree>
    <p:extLst>
      <p:ext uri="{BB962C8B-B14F-4D97-AF65-F5344CB8AC3E}">
        <p14:creationId xmlns:p14="http://schemas.microsoft.com/office/powerpoint/2010/main" val="8651752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03ADD4-5BF2-4EB4-8A7D-DA5F05B1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AF3ED3-8CC7-41F8-A3EB-64CAB9B8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B8C"/>
                </a:solidFill>
              </a:defRPr>
            </a:pPr>
            <a:r>
              <a:rPr sz="1350" b="1">
                <a:solidFill>
                  <a:srgbClr val="009B8C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169234-A9FB-4210-9D0E-D31456F7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一条数据能解决的问题很有限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AD7DD-CDD3-4E97-8A31-5AB329F1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67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我们很快会遇到“重复”与“一组数据”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42AFD-5753-4B36-8F98-E0FCFD15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2026 新生暑期技术实践培训 · C++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8D744-733E-4CD6-91D1-2085BAFF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 / 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CA19F-B919-42BF-911F-899E40E3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14300" cy="443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C0BFE-0935-4682-87F1-7D2C0784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4954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9B8C"/>
                </a:solidFill>
              </a:defRPr>
            </a:pPr>
            <a:r>
              <a:rPr sz="2025" b="1">
                <a:solidFill>
                  <a:srgbClr val="009B8C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52BDC-2313-48E6-983C-F779C2DC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954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A43"/>
                </a:solidFill>
              </a:defRPr>
            </a:pPr>
            <a:r>
              <a:rPr sz="1875" b="0">
                <a:solidFill>
                  <a:srgbClr val="102A43"/>
                </a:solidFill>
              </a:rPr>
              <a:t>重复计算：同一种规则写三遍，改一处就可能漏一处。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A834EC-A2C5-4E76-82CC-7BF9E226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764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9B8C"/>
                </a:solidFill>
              </a:defRPr>
            </a:pPr>
            <a:r>
              <a:rPr sz="2025" b="1">
                <a:solidFill>
                  <a:srgbClr val="009B8C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A69ED8-7FD1-4EF7-B6DE-AE69F29C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764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A43"/>
                </a:solidFill>
              </a:defRPr>
            </a:pPr>
            <a:r>
              <a:rPr sz="1875" b="0">
                <a:solidFill>
                  <a:srgbClr val="102A43"/>
                </a:solidFill>
              </a:rPr>
              <a:t>多名学生：变量越来越多，程序看不出结构。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4E83FB-CFFF-46E0-934B-7A555DF2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575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9B8C"/>
                </a:solidFill>
              </a:defRPr>
            </a:pPr>
            <a:r>
              <a:rPr sz="2025" b="1">
                <a:solidFill>
                  <a:srgbClr val="009B8C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A452FA-3611-4039-BFE0-E141D5DD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575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A43"/>
                </a:solidFill>
              </a:defRPr>
            </a:pPr>
            <a:r>
              <a:rPr sz="1875" b="0">
                <a:solidFill>
                  <a:srgbClr val="102A43"/>
                </a:solidFill>
              </a:rPr>
              <a:t>本节工具：函数负责“动作”，string 和 vector 负责“数据”。</a:t>
            </a:r>
          </a:p>
        </p:txBody>
      </p:sp>
    </p:spTree>
    <p:extLst>
      <p:ext uri="{BB962C8B-B14F-4D97-AF65-F5344CB8AC3E}">
        <p14:creationId xmlns:p14="http://schemas.microsoft.com/office/powerpoint/2010/main" val="10821203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DA5B5C-CE67-494A-9641-A3590F21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CE1BF-B5F5-4920-AA17-0F377096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B8C"/>
                </a:solidFill>
              </a:defRPr>
            </a:pPr>
            <a:r>
              <a:rPr sz="1350" b="1">
                <a:solidFill>
                  <a:srgbClr val="009B8C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B8FA0-1840-4F53-B656-240160CE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今天的路线：从小函数走到成绩统计器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2136C-51A0-409C-A8C9-04928999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67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每一步都可编译、可验证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DD657-51A2-450D-B06A-C547F961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2026 新生暑期技术实践培训 · C++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ABD2A-1CC8-47EF-8926-FF65BAC4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3 / 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DAFB4-51AA-46B7-A9F8-E4235AAC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000625" cy="41148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1104AC-5074-4C3D-90C2-61C32308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428750"/>
            <a:ext cx="5000625" cy="41148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E7BB52-AF5A-4B32-9873-219190B4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9B8C"/>
                </a:solidFill>
              </a:defRPr>
            </a:pPr>
            <a:r>
              <a:rPr sz="1875" b="1">
                <a:solidFill>
                  <a:srgbClr val="009B8C"/>
                </a:solidFill>
              </a:rPr>
              <a:t>前半段：表达一个动作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ABF7AD-B5F7-4807-9E9B-0596F6B4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6954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76F51"/>
                </a:solidFill>
              </a:defRPr>
            </a:pPr>
            <a:r>
              <a:rPr sz="1875" b="1">
                <a:solidFill>
                  <a:srgbClr val="E76F51"/>
                </a:solidFill>
              </a:rPr>
              <a:t>后半段：管理一组数据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1B5683-7CFF-45ED-88D7-3321D054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函数的定义与调用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D310C-AC3A-4C9D-A209-A4C0AA51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参数、返回值与作用域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2863B4-9C4C-45FE-AA0D-3668AD86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string：一段可变长文本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DA2637-A411-4106-9147-4EC185FF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24790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vector：一排可增长的数据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42F557-3283-4786-B3A6-F9EC54FF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83845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遍历、累加、最大值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2F6632-C1F6-434A-B80B-269ADD60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42900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小型成绩统计器</a:t>
            </a:r>
          </a:p>
        </p:txBody>
      </p:sp>
    </p:spTree>
    <p:extLst>
      <p:ext uri="{BB962C8B-B14F-4D97-AF65-F5344CB8AC3E}">
        <p14:creationId xmlns:p14="http://schemas.microsoft.com/office/powerpoint/2010/main" val="20459023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956BEE-15A3-403A-B651-55DAD9CE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DD051-1596-49D5-B0C0-DB8ADA0D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B8C"/>
                </a:solidFill>
              </a:defRPr>
            </a:pPr>
            <a:r>
              <a:rPr sz="1350" b="1">
                <a:solidFill>
                  <a:srgbClr val="009B8C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110002-8C9C-4A74-A21E-D47A7401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函数：给一段步骤起名字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6B9FB-EC30-4E7D-BC9D-D1705F16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67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先调用，再理解“输入—处理—输出”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B6BE0-6E25-47A4-9F16-A8FF9DB4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2026 新生暑期技术实践培训 · C++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F3DDD-161C-4AD4-B492-A9C4AD64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4 / 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FDBCF-B885-4C5F-BBA5-CB62EA52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858000" cy="4438650"/>
          </a:xfrm>
          <a:prstGeom xmlns:a="http://schemas.openxmlformats.org/drawingml/2006/main" prst="roundRect">
            <a:avLst>
              <a:gd name="adj" fmla="val 343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A3F62-4F4C-4FDF-A115-75D4BD10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#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include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iostream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94855-2539-43C4-AC81-30769972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using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namespace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std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BE96BC-95EA-44C5-B642-42A78F8B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84043-9623-4FD6-B1B7-D422DB01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void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sayHello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{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1FDCA8-8B8F-48C9-A5D7-DFB24BCD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cout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72E0B8"/>
                </a:solidFill>
                <a:latin typeface="Menlo"/>
                <a:ea typeface="Menlo"/>
                <a:cs typeface="Menlo"/>
              </a:rPr>
              <a:t>"Hello, C++!"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endl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AAFA16-6FDF-4926-8DA1-73362342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E6544B-11E1-414C-A4B7-25D994E0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8E1BDC-9D59-4DBC-A57E-6281E784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main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{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ECFA3C-93E4-46F4-834A-43AC40FD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sayHello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B4654E-28A3-4A5A-B170-DAB28032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sayHello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282237-AE04-4EF2-82C9-3D64565E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9EF1DD-F432-400E-A1CE-A5709FAE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81125"/>
            <a:ext cx="3581400" cy="44386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66FAD8-A12B-47D2-B08B-C61EE5F3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57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9B8C"/>
                </a:solidFill>
              </a:defRPr>
            </a:pPr>
            <a:r>
              <a:rPr sz="1650" b="1">
                <a:solidFill>
                  <a:srgbClr val="009B8C"/>
                </a:solidFill>
              </a:rPr>
              <a:t>读代码时，先问三个问题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B691CC-0705-4533-8A9A-4C93D49B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526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1C7A97-39D4-4EC9-8A02-BCEB70EC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void 表示：这个函数不交回一个值。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968207-8111-48A3-A212-059CF77A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956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94F7C8-FA17-407A-9AAF-BFEF5AF1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956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花括号包住函数自己的工作区域。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7FD78D-0460-4952-A5B9-18D43414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604FC2-E89A-4955-B20F-88AB10CA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main 中每调用一次，函数执行一次。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176616-D8D9-4B62-8372-DBF65930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53000"/>
            <a:ext cx="28765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EA87D0-BC51-4EC1-9585-EC2578BA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482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先运行，再把 Hello 改成自己的名字。</a:t>
            </a:r>
          </a:p>
        </p:txBody>
      </p:sp>
    </p:spTree>
    <p:extLst>
      <p:ext uri="{BB962C8B-B14F-4D97-AF65-F5344CB8AC3E}">
        <p14:creationId xmlns:p14="http://schemas.microsoft.com/office/powerpoint/2010/main" val="16178656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B51F88-A125-42DB-B8E0-556B6597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EBD3F-03DF-4186-87A6-F5C00F03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B8C"/>
                </a:solidFill>
              </a:defRPr>
            </a:pPr>
            <a:r>
              <a:rPr sz="1350" b="1">
                <a:solidFill>
                  <a:srgbClr val="009B8C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B9B77-2349-48F2-9739-3858AE7D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函数不是“高级语法”，而是让代码可读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34BF4-F187-46F5-8CFD-D9DC8664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67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同一个动作只写一次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38A52-C07F-485B-AE03-3A9963A0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2026 新生暑期技术实践培训 · C++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923DD-F73B-41B6-BB72-CA3060AB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5 / 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4A0A4B-F30C-4322-B2C0-66A65727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14300" cy="443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B1F7E-DCE5-4503-9141-6026689E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4954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9B8C"/>
                </a:solidFill>
              </a:defRPr>
            </a:pPr>
            <a:r>
              <a:rPr sz="2025" b="1">
                <a:solidFill>
                  <a:srgbClr val="009B8C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686A5-8FF3-42D3-9A93-6CC7E3DB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954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A43"/>
                </a:solidFill>
              </a:defRPr>
            </a:pPr>
            <a:r>
              <a:rPr sz="1875" b="0">
                <a:solidFill>
                  <a:srgbClr val="102A43"/>
                </a:solidFill>
              </a:rPr>
              <a:t>函数名应该像一个动词：printReport、readScore、findMax。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7EC7F-A7FB-4654-92D8-31ADD79E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764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9B8C"/>
                </a:solidFill>
              </a:defRPr>
            </a:pPr>
            <a:r>
              <a:rPr sz="2025" b="1">
                <a:solidFill>
                  <a:srgbClr val="009B8C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94A70D-BA6B-41B6-810D-F7C281BB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764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A43"/>
                </a:solidFill>
              </a:defRPr>
            </a:pPr>
            <a:r>
              <a:rPr sz="1875" b="0">
                <a:solidFill>
                  <a:srgbClr val="102A43"/>
                </a:solidFill>
              </a:rPr>
              <a:t>把“怎么算”藏进函数，main 只保留程序流程。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B0F39C-6B96-4581-9C35-AEC857C7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575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9B8C"/>
                </a:solidFill>
              </a:defRPr>
            </a:pPr>
            <a:r>
              <a:rPr sz="2025" b="1">
                <a:solidFill>
                  <a:srgbClr val="009B8C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858C0C-5410-46B9-BC80-49262766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575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A43"/>
                </a:solidFill>
              </a:defRPr>
            </a:pPr>
            <a:r>
              <a:rPr sz="1875" b="0">
                <a:solidFill>
                  <a:srgbClr val="102A43"/>
                </a:solidFill>
              </a:rPr>
              <a:t>短函数更容易测试：输入固定，预期输出也固定。</a:t>
            </a:r>
          </a:p>
        </p:txBody>
      </p:sp>
    </p:spTree>
    <p:extLst>
      <p:ext uri="{BB962C8B-B14F-4D97-AF65-F5344CB8AC3E}">
        <p14:creationId xmlns:p14="http://schemas.microsoft.com/office/powerpoint/2010/main" val="9530225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FB1433-1611-4512-8D97-CC9D3031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16C95-E20B-46B8-8CA5-569DF07C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B8C"/>
                </a:solidFill>
              </a:defRPr>
            </a:pPr>
            <a:r>
              <a:rPr sz="1350" b="1">
                <a:solidFill>
                  <a:srgbClr val="009B8C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CE3C19-7EEC-4F80-9FAB-296DAB75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参数：把外部数据带进函数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24A7A-3100-4D02-97FA-D4BF9593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67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参数像函数门口的临时变量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1D1268-445A-4EE1-8205-C6A49152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2026 新生暑期技术实践培训 · C++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67DE5D-F09F-41E8-9A55-59CCAC65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6 / 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CA747-13C0-43D2-89A0-A1416605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858000" cy="4438650"/>
          </a:xfrm>
          <a:prstGeom xmlns:a="http://schemas.openxmlformats.org/drawingml/2006/main" prst="roundRect">
            <a:avLst>
              <a:gd name="adj" fmla="val 343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2E70C-DC97-4974-B7B6-E0AC0E08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#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include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iostream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FD009-2E78-4C49-AFDD-FD586CD1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using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namespace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std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4F1F7-E3AE-415C-AB4E-99E74936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3E0D60-ACE9-48DF-80BE-B847EDB7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void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printTwice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7DD3FC"/>
                </a:solidFill>
                <a:latin typeface="Menlo"/>
                <a:ea typeface="Menlo"/>
                <a:cs typeface="Menlo"/>
              </a:rPr>
              <a:t>string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word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{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F1F997-1BFB-427F-A9DB-4EFAF663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cout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word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endl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937C88-A7DD-4048-993D-20299D3E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cout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word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endl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4E4AA-FE35-4029-A830-B2BE913E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63F864-A6F4-400A-8F7B-5337D950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C4F2AC-E4E0-4B7D-9439-42E7B038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main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{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75CFFC-D43F-4BE7-B256-C14FC806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printTwice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72E0B8"/>
                </a:solidFill>
                <a:latin typeface="Menlo"/>
                <a:ea typeface="Menlo"/>
                <a:cs typeface="Menlo"/>
              </a:rPr>
              <a:t>"C++"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C74743-AB41-46F9-B979-FE0C0CA2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C7695B-6972-43F2-AE16-B6241DD4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81125"/>
            <a:ext cx="3581400" cy="44386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9566A6-0078-4B81-88AC-3DC21481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57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9B8C"/>
                </a:solidFill>
              </a:defRPr>
            </a:pPr>
            <a:r>
              <a:rPr sz="1650" b="1">
                <a:solidFill>
                  <a:srgbClr val="009B8C"/>
                </a:solidFill>
              </a:rPr>
              <a:t>读代码时，先问三个问题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A6899B-528C-4297-9E3F-A102A4B1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526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D1F52D-A7D8-46F1-B2D6-C050B905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word 是形参：只在函数内部存在。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5ADBC3-5A86-4E9A-ADDB-E8A3C587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956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9FE1F2-0813-4EEB-91DB-3F183751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956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"C++" 是实参：调用时交给函数的数据。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9934B0-5FBC-43E4-9EF3-7E3284FF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336065-F21F-4C3F-8F64-105A803E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这里需要 #include &lt;string&gt;，有些编译器会间接包含，但不要依赖它。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4E10EE-5273-4518-81A1-D452553A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53000"/>
            <a:ext cx="28765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99CFE5-E4B1-4E69-B4AC-9F4114B8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482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尝试传入 "Git"，看看输出是否变化。</a:t>
            </a:r>
          </a:p>
        </p:txBody>
      </p:sp>
    </p:spTree>
    <p:extLst>
      <p:ext uri="{BB962C8B-B14F-4D97-AF65-F5344CB8AC3E}">
        <p14:creationId xmlns:p14="http://schemas.microsoft.com/office/powerpoint/2010/main" val="5662709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E61E39-BC1D-425C-85A6-56D695DE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792F6-F48D-4547-B896-3967A888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B8C"/>
                </a:solidFill>
              </a:defRPr>
            </a:pPr>
            <a:r>
              <a:rPr sz="1350" b="1">
                <a:solidFill>
                  <a:srgbClr val="009B8C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3E3E8-17AE-43A1-B9EE-B336A930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返回值：把结果交回调用者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D29C80-2763-4929-958C-25AF969B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67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int 表示：函数最后交回一个整数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661D4-63B7-40E7-A5BA-3CF7B2B3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2026 新生暑期技术实践培训 · C++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58189-BC56-47E2-BF68-89A5D469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7 / 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53ABA-0437-4012-B892-DAF9CBC9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858000" cy="4438650"/>
          </a:xfrm>
          <a:prstGeom xmlns:a="http://schemas.openxmlformats.org/drawingml/2006/main" prst="roundRect">
            <a:avLst>
              <a:gd name="adj" fmla="val 343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9F6B8-0CBF-432B-91DB-45923855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add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a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,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b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{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605A4-45E4-4583-8CC3-46D4C2FB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result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=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a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+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b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205871-9B64-4103-8D98-11EAA54A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return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result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8C1C5-C62F-470F-9156-8DB95A6F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1F162-9667-42B9-B8F6-A3EC2BF9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7E3D50-99ED-4819-89FB-9E1908BB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main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{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FD52F4-0572-4BCA-B882-C89E0072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total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=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add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FDE68A"/>
                </a:solidFill>
                <a:latin typeface="Menlo"/>
                <a:ea typeface="Menlo"/>
                <a:cs typeface="Menlo"/>
              </a:rPr>
              <a:t>12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,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E68A"/>
                </a:solidFill>
                <a:latin typeface="Menlo"/>
                <a:ea typeface="Menlo"/>
                <a:cs typeface="Menlo"/>
              </a:rPr>
              <a:t>8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488D90-BE70-4F9D-ADCA-AC0F35D8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cout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total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endl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B8FECA-1836-4DA8-BE37-92DD69E1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3A1427-099E-4324-9795-C69A1B6D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81125"/>
            <a:ext cx="3581400" cy="44386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0A6308-F692-4BE2-8F31-9C1A93FA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57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9B8C"/>
                </a:solidFill>
              </a:defRPr>
            </a:pPr>
            <a:r>
              <a:rPr sz="1650" b="1">
                <a:solidFill>
                  <a:srgbClr val="009B8C"/>
                </a:solidFill>
              </a:rPr>
              <a:t>读代码时，先问三个问题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1DB31F-A77C-49A8-8034-3666A6B1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526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43AB8B-8925-4DAB-83BB-45F1FD6F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a、b 只在 add 内使用。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E9049D-AFEE-4C59-ADD6-7D111433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956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44D621-DCDC-4A20-AD83-657412A3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956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return 立刻结束函数，并把值带回。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2171F7-8B0D-4682-839B-B5A882ED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83035F-0147-415B-965D-DB911FCD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total 保存返回值；不保存也可以直接 cout &lt;&lt; add(12, 8)。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81BE54-7153-463B-A0D3-18969EE2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53000"/>
            <a:ext cx="28765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715193-FA9C-4BFB-9ED1-DFAA4CE5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482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运行后，先观察输出，再改一个值验证理解。</a:t>
            </a:r>
          </a:p>
        </p:txBody>
      </p:sp>
    </p:spTree>
    <p:extLst>
      <p:ext uri="{BB962C8B-B14F-4D97-AF65-F5344CB8AC3E}">
        <p14:creationId xmlns:p14="http://schemas.microsoft.com/office/powerpoint/2010/main" val="15217680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5A7EE7-5391-4B13-B5CC-39832D84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7F782-FC95-4A8E-9329-C4AE8948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B8C"/>
                </a:solidFill>
              </a:defRPr>
            </a:pPr>
            <a:r>
              <a:rPr sz="1350" b="1">
                <a:solidFill>
                  <a:srgbClr val="009B8C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454A2-EF32-4782-B193-6661E428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void 还是有返回值？先看任务需要什么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29D3B-A27F-4321-AB45-1BF17BE2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67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选择函数签名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292D5-A5D6-4A2E-8272-6DFE1F89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2026 新生暑期技术实践培训 · C++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50CD4-5DF3-45D7-8A0F-D50F94A0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8 / 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95F47-1347-451C-B428-7CF0A081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000625" cy="41148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309F8-65BA-4B6D-AAEC-2103DD76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428750"/>
            <a:ext cx="5000625" cy="41148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683F6-FDD2-4487-B745-5E58FD2D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9B8C"/>
                </a:solidFill>
              </a:defRPr>
            </a:pPr>
            <a:r>
              <a:rPr sz="1875" b="1">
                <a:solidFill>
                  <a:srgbClr val="009B8C"/>
                </a:solidFill>
              </a:rPr>
              <a:t>适合 void 的动作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0EB82-CDCD-441F-9BBB-E8286CDF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6954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76F51"/>
                </a:solidFill>
              </a:defRPr>
            </a:pPr>
            <a:r>
              <a:rPr sz="1875" b="1">
                <a:solidFill>
                  <a:srgbClr val="E76F51"/>
                </a:solidFill>
              </a:rPr>
              <a:t>适合返回值的计算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17D56-B1C5-43E2-A7CF-31306A51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打印一行说明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3041F-5FB9-4725-9FC9-93463220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把一条记录写入文件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1D37D6-9858-4EE0-B640-53FECB00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修改传入容器（后面会讲）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A4E680-8D32-4BA0-B87C-2F67DE08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24790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求两个数之和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F94FBE-FBB3-46C0-B0D6-26DB5BFD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83845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判断是否通过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735F06-CAD4-402C-9C91-D7C156AF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42900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计算平均分</a:t>
            </a:r>
          </a:p>
        </p:txBody>
      </p:sp>
    </p:spTree>
    <p:extLst>
      <p:ext uri="{BB962C8B-B14F-4D97-AF65-F5344CB8AC3E}">
        <p14:creationId xmlns:p14="http://schemas.microsoft.com/office/powerpoint/2010/main" val="5594034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F92ABA-5009-4CB0-B720-EC32326B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69BB7-CC28-4630-8C6C-F87838B3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B8C"/>
                </a:solidFill>
              </a:defRPr>
            </a:pPr>
            <a:r>
              <a:rPr sz="1350" b="1">
                <a:solidFill>
                  <a:srgbClr val="009B8C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B2E22-6A78-4BAF-836E-72436280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常见错误：忘记 return，或返回类型不匹配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CCE18-2244-4A7D-BBA3-CA2044DA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67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编译器的红字值得逐词读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298F6-68C2-43DD-BFF4-A0363A03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2026 新生暑期技术实践培训 · C++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C9C22-2287-4C36-9728-A9598E6C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9 / 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96A54-44A8-411C-BAF0-ECC7C63E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858000" cy="4438650"/>
          </a:xfrm>
          <a:prstGeom xmlns:a="http://schemas.openxmlformats.org/drawingml/2006/main" prst="roundRect">
            <a:avLst>
              <a:gd name="adj" fmla="val 343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F6F42-8553-49EE-9D8E-D5E8678A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double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average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sum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,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count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{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993C3-F17B-4DCA-8711-21CB2F44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if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count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=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=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E68A"/>
                </a:solidFill>
                <a:latin typeface="Menlo"/>
                <a:ea typeface="Menlo"/>
                <a:cs typeface="Menlo"/>
              </a:rPr>
              <a:t>0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{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74025-5A27-4765-88E5-A5DDAB2E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return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E68A"/>
                </a:solidFill>
                <a:latin typeface="Menlo"/>
                <a:ea typeface="Menlo"/>
                <a:cs typeface="Menlo"/>
              </a:rPr>
              <a:t>0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.</a:t>
            </a:r>
            <a:r>
              <a:rPr sz="1050">
                <a:solidFill>
                  <a:srgbClr val="FDE68A"/>
                </a:solidFill>
                <a:latin typeface="Menlo"/>
                <a:ea typeface="Menlo"/>
                <a:cs typeface="Menlo"/>
              </a:rPr>
              <a:t>0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60FB2-E3B6-4212-8C97-72B9D781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9DB0AF-ABB8-42A4-BECD-85CBDD36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return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sum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/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count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465171-18F9-4527-9356-7A45B2AD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E0614E-3603-428B-A02A-F37F97B7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656E6D-BC50-453E-86FE-A1FBF374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94A3B8"/>
                </a:solidFill>
                <a:latin typeface="Menlo"/>
                <a:ea typeface="Menlo"/>
                <a:cs typeface="Menlo"/>
              </a:rPr>
              <a:t>// 问题：sum / count 是整数除法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8D391C-22C3-4FAF-B423-56EFA717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81125"/>
            <a:ext cx="3581400" cy="44386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DEE8EC-E6A8-4D14-9B7A-3F2A63D9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57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9B8C"/>
                </a:solidFill>
              </a:defRPr>
            </a:pPr>
            <a:r>
              <a:rPr sz="1650" b="1">
                <a:solidFill>
                  <a:srgbClr val="009B8C"/>
                </a:solidFill>
              </a:rPr>
              <a:t>读代码时，先问三个问题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50963C-231D-43E7-B0E4-085FCAFC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526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489254-4809-4266-9304-5D72D146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当 count 为 0，必须提前处理，避免除零。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FD5CA4-6374-48C7-A810-AFB96897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956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2788CB-9130-429C-8D70-119EDB33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956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sum / count 两边都是 int，会丢掉小数。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B39E7A-1F96-4D02-AEC0-0F9C4070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1E43FD-A775-42B4-8A23-D36ABD36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修复：return static_cast&lt;double&gt;(sum) / count;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E497ED-C28E-4528-8145-C1C26D4B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53000"/>
            <a:ext cx="28765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14B07F-0A33-4FAD-B8C5-76C412BC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482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运行后，先观察输出，再改一个值验证理解。</a:t>
            </a:r>
          </a:p>
        </p:txBody>
      </p:sp>
    </p:spTree>
    <p:extLst>
      <p:ext uri="{BB962C8B-B14F-4D97-AF65-F5344CB8AC3E}">
        <p14:creationId xmlns:p14="http://schemas.microsoft.com/office/powerpoint/2010/main" val="9409276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121806-7370-4399-A673-4FA92A11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0A15A-A759-4B2E-9539-1237973C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B8C"/>
                </a:solidFill>
              </a:defRPr>
            </a:pPr>
            <a:r>
              <a:rPr sz="1350" b="1">
                <a:solidFill>
                  <a:srgbClr val="009B8C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9D5D1-B050-4D20-9A46-A2A79D02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作用域：变量不是到处都能用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8E5BA-CEF9-4D73-BD4E-42336D04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67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花括号决定变量的可见范围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48338-AA01-40C4-AD5C-673EA304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2026 新生暑期技术实践培训 · C++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92B4A-D52B-413A-A35D-35266AB1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10 / 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4C0E6-19E9-4631-8134-0B90A416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858000" cy="4438650"/>
          </a:xfrm>
          <a:prstGeom xmlns:a="http://schemas.openxmlformats.org/drawingml/2006/main" prst="roundRect">
            <a:avLst>
              <a:gd name="adj" fmla="val 343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A76FE-AD25-4671-84B5-B5DB2075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main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{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75695-2546-480A-82AD-DA244454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=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E68A"/>
                </a:solidFill>
                <a:latin typeface="Menlo"/>
                <a:ea typeface="Menlo"/>
                <a:cs typeface="Menlo"/>
              </a:rPr>
              <a:t>90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61B646-F919-49E8-AE28-237CBF0C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9D5C5-DC90-44D1-8A06-CC873C8A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if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&gt;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=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E68A"/>
                </a:solidFill>
                <a:latin typeface="Menlo"/>
                <a:ea typeface="Menlo"/>
                <a:cs typeface="Menlo"/>
              </a:rPr>
              <a:t>60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{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A48479-3649-4785-A82D-7A86829E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</a:t>
            </a:r>
            <a:r>
              <a:rPr sz="1050">
                <a:solidFill>
                  <a:srgbClr val="7DD3FC"/>
                </a:solidFill>
                <a:latin typeface="Menlo"/>
                <a:ea typeface="Menlo"/>
                <a:cs typeface="Menlo"/>
              </a:rPr>
              <a:t>string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message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=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72E0B8"/>
                </a:solidFill>
                <a:latin typeface="Menlo"/>
                <a:ea typeface="Menlo"/>
                <a:cs typeface="Menlo"/>
              </a:rPr>
              <a:t>"pass"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A077E5-9B80-41E3-899F-938AF3BF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cout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message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endl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4447A0-EA0D-4619-8906-D931C572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AC35B-8292-4EC1-AA6A-EA4E4CD9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3575C3-0414-4842-99F3-076578C1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94A3B8"/>
                </a:solidFill>
                <a:latin typeface="Menlo"/>
                <a:ea typeface="Menlo"/>
                <a:cs typeface="Menlo"/>
              </a:rPr>
              <a:t>// cout &lt;&lt; message &lt;&lt; endl; // 错误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4D1D60-E2C6-43A0-881F-3649D0E6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E7B244-A2FA-4BEC-95D0-6635A4AF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81125"/>
            <a:ext cx="3581400" cy="44386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EACC11-522C-4137-9237-472B79B2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57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9B8C"/>
                </a:solidFill>
              </a:defRPr>
            </a:pPr>
            <a:r>
              <a:rPr sz="1650" b="1">
                <a:solidFill>
                  <a:srgbClr val="009B8C"/>
                </a:solidFill>
              </a:rPr>
              <a:t>读代码时，先问三个问题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CD87F3-CDFF-4249-95F0-CE9CA954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526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BE1705-4CED-451D-8BEB-CE291482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message 在 if 的花括号内创建。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85FB38-AF8D-4FDA-90C3-F4333A6A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956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ED4A80-84B3-4E99-A08B-66584E14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956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离开花括号，message 被销毁。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9E21EF-0DB7-43A0-9596-72E67A50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324DF3-04E0-4E4A-A188-B4A962F3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作用域小，变量的含义越清楚。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2021E7-BFDF-4FB1-993C-BA760E15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53000"/>
            <a:ext cx="28765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20FAC3-1B6D-43E6-8F2C-468E49E8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482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运行后，先观察输出，再改一个值验证理解。</a:t>
            </a:r>
          </a:p>
        </p:txBody>
      </p:sp>
    </p:spTree>
    <p:extLst>
      <p:ext uri="{BB962C8B-B14F-4D97-AF65-F5344CB8AC3E}">
        <p14:creationId xmlns:p14="http://schemas.microsoft.com/office/powerpoint/2010/main" val="19097059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79053B-408F-4788-91B2-ACDC6900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9870C2-202D-42DE-90A7-4CECAEAD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B8C"/>
                </a:solidFill>
              </a:defRPr>
            </a:pPr>
            <a:r>
              <a:rPr sz="1350" b="1">
                <a:solidFill>
                  <a:srgbClr val="009B8C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21402-47B6-42EE-8BD1-1B9A896A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练习：拆出三个函数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4AA44-C446-4681-9271-19BEBADC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67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动手写，才会变成自己的能力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0F86A-18E0-4EA1-AD70-16865F9D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2026 新生暑期技术实践培训 · C++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45B5A-0EA8-4E16-8EF7-5A09638D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11 / 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9CEA6-4AEA-4078-9D26-A44073D3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0135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06BEF-06BD-4349-B176-6522F6E3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647825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把“输入、计算、输出”分开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E3D93-F9CD-4D28-BE5A-0B898E77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9B8C"/>
                </a:solidFill>
              </a:defRPr>
            </a:pPr>
            <a:r>
              <a:rPr sz="1875" b="1">
                <a:solidFill>
                  <a:srgbClr val="009B8C"/>
                </a:solidFill>
              </a:rPr>
              <a:t>建议步骤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DE790D-1483-4BE4-871F-A9D731F3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83ED51-D62A-4B0F-89EC-A82975E9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04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1C2B85-FAD7-4562-B819-0A9881CE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写 readScore()，从 cin 读一个整数并返回。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A226E9-D90B-4DD9-9686-CB292CC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87A40-A9C7-463E-90FE-F6E82B01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C0FC26-02B5-4C20-ADA0-4DE60A8A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86200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写 isPass(score)，返回 bool。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64B8F7-FDAE-42EC-A8B0-8ABDC503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481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4923C4-F89A-44A2-991D-932B12BD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672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2DBC73-8918-4755-9DEA-E69B6901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9600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写 printResult(score)，调用 isPass 后输出结论。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D09DFA-D149-4086-96E2-57EF692B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86075"/>
            <a:ext cx="3962400" cy="23241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9BCD14-5062-4CA8-89FE-9DAB2D52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76F51"/>
                </a:solidFill>
              </a:defRPr>
            </a:pPr>
            <a:r>
              <a:rPr sz="1875" b="1">
                <a:solidFill>
                  <a:srgbClr val="E76F51"/>
                </a:solidFill>
              </a:rPr>
              <a:t>验收条件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21A872-EC45-417D-8BFD-9B45D164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4807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✓ main 中不直接写判断条件。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92E3F2-ADFB-499E-A847-304B8FFF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529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✓ 输入 59、60、100 都有正确输出。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79B256-813A-41F2-A1EE-1E1AF323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577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✓ 每个函数名称能说明职责。</a:t>
            </a:r>
          </a:p>
        </p:txBody>
      </p:sp>
    </p:spTree>
    <p:extLst>
      <p:ext uri="{BB962C8B-B14F-4D97-AF65-F5344CB8AC3E}">
        <p14:creationId xmlns:p14="http://schemas.microsoft.com/office/powerpoint/2010/main" val="18657265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08A419-BD49-4ACF-8E62-8E3FC35C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B14B8-FDC7-48B7-B022-06651F2F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B8C"/>
                </a:solidFill>
              </a:defRPr>
            </a:pPr>
            <a:r>
              <a:rPr sz="1350" b="1">
                <a:solidFill>
                  <a:srgbClr val="009B8C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9239E-9591-4ABE-8654-A93F27B0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string：一段文本，不是一块固定数组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26626-2AD8-4567-913A-EB83BB3A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67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需要 &lt;string&gt;，常用 std::string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B9640-D867-4A0D-9992-FAD2369E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2026 新生暑期技术实践培训 · C++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472E7-CDBE-42AE-B4DD-D73AE475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12 / 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CBCF0-87D0-40BA-B798-76B00FFD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858000" cy="4438650"/>
          </a:xfrm>
          <a:prstGeom xmlns:a="http://schemas.openxmlformats.org/drawingml/2006/main" prst="roundRect">
            <a:avLst>
              <a:gd name="adj" fmla="val 343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C5521-355A-4A19-A0A6-B6738657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#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include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iostream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200CB-3754-4D9A-B341-65C484D3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#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include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7DD3FC"/>
                </a:solidFill>
                <a:latin typeface="Menlo"/>
                <a:ea typeface="Menlo"/>
                <a:cs typeface="Menlo"/>
              </a:rPr>
              <a:t>string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7DAEF-97BA-4A55-8355-53EFC68F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using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namespace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std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C98A85-230D-4B47-9216-4922AE96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BC469C-8F11-400D-B58E-46C16A46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main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{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DFDF3D-3A96-4F02-923A-7FE31001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7DD3FC"/>
                </a:solidFill>
                <a:latin typeface="Menlo"/>
                <a:ea typeface="Menlo"/>
                <a:cs typeface="Menlo"/>
              </a:rPr>
              <a:t>string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name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=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72E0B8"/>
                </a:solidFill>
                <a:latin typeface="Menlo"/>
                <a:ea typeface="Menlo"/>
                <a:cs typeface="Menlo"/>
              </a:rPr>
              <a:t>"Lin"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EBA269-7E5F-44B9-AF7E-CB21980F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name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+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=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72E0B8"/>
                </a:solidFill>
                <a:latin typeface="Menlo"/>
                <a:ea typeface="Menlo"/>
                <a:cs typeface="Menlo"/>
              </a:rPr>
              <a:t>" Chen"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0CDA8E-073D-4663-9490-926AD235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cout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name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endl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A1F60F-4B5B-4716-8077-B8DCB645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cout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name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.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size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endl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015EA5-2D95-4444-B881-EEA1C995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87778B-80DA-4FA5-8B6D-9C28ABF0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81125"/>
            <a:ext cx="3581400" cy="44386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5AA6F3-A67A-4AFD-A937-8A249F7D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57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9B8C"/>
                </a:solidFill>
              </a:defRPr>
            </a:pPr>
            <a:r>
              <a:rPr sz="1650" b="1">
                <a:solidFill>
                  <a:srgbClr val="009B8C"/>
                </a:solidFill>
              </a:rPr>
              <a:t>读代码时，先问三个问题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4486A5-4E27-44D5-A59A-889789E5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526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52A4B7-6041-4FC1-B171-AAAC5028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+= 用来追加文本。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DF65C1-AFE3-4FC7-A79A-AAEEBD79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956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7D033C-9ECC-4EB3-B836-61378F22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956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size() 得到字符数量。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22CBC5-2900-4690-B3EF-A93DD4C9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2389FD-8DDE-4313-87E4-B36BA44B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string 可以直接比较：name == "Lin Chen"。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46CB71-501E-4D5E-8B04-C5E3CF7A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53000"/>
            <a:ext cx="28765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EFCDDE-8D58-4D1F-A15F-A6594BFA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482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运行后，先观察输出，再改一个值验证理解。</a:t>
            </a:r>
          </a:p>
        </p:txBody>
      </p:sp>
    </p:spTree>
    <p:extLst>
      <p:ext uri="{BB962C8B-B14F-4D97-AF65-F5344CB8AC3E}">
        <p14:creationId xmlns:p14="http://schemas.microsoft.com/office/powerpoint/2010/main" val="406610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9D9EB7-AAFF-4086-ACCC-598F4016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26763-8090-40D4-9B5F-918114A5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B8C"/>
                </a:solidFill>
              </a:defRPr>
            </a:pPr>
            <a:r>
              <a:rPr sz="1350" b="1">
                <a:solidFill>
                  <a:srgbClr val="009B8C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E2054-9F16-4EB8-B382-3B271734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读入含空格的名字，要用 getline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62152-E5ED-4180-B3E4-2683C125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67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cin &gt;&gt; 只读到第一个空白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3618B-B461-45D0-A962-B6017421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2026 新生暑期技术实践培训 · C++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B237D-39C4-4C96-B001-EB55555F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13 / 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27E7C-3067-4B7F-A376-73A517F2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858000" cy="4438650"/>
          </a:xfrm>
          <a:prstGeom xmlns:a="http://schemas.openxmlformats.org/drawingml/2006/main" prst="roundRect">
            <a:avLst>
              <a:gd name="adj" fmla="val 343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C3F11-DCD1-41A8-B947-EA6C0516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7DD3FC"/>
                </a:solidFill>
                <a:latin typeface="Menlo"/>
                <a:ea typeface="Menlo"/>
                <a:cs typeface="Menlo"/>
              </a:rPr>
              <a:t>string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name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6072F-60EE-4A73-B0F6-85C71ED2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cout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72E0B8"/>
                </a:solidFill>
                <a:latin typeface="Menlo"/>
                <a:ea typeface="Menlo"/>
                <a:cs typeface="Menlo"/>
              </a:rPr>
              <a:t>"Name: "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61279A-C7B1-4F0A-9EE9-2837D235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getline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cin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,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name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0D690-D4C5-4CE8-A18E-61D902BA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0490B-186C-4E3E-B5E3-674257D3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if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name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.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empty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{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5FBCFC-CB8B-4ED3-B6D4-15A1A096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cout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72E0B8"/>
                </a:solidFill>
                <a:latin typeface="Menlo"/>
                <a:ea typeface="Menlo"/>
                <a:cs typeface="Menlo"/>
              </a:rPr>
              <a:t>"Name cannot be empty"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endl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AE7FF2-DF40-447F-96FC-4208B8BD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else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{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F816A5-1639-413B-928C-7044CE6A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cout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72E0B8"/>
                </a:solidFill>
                <a:latin typeface="Menlo"/>
                <a:ea typeface="Menlo"/>
                <a:cs typeface="Menlo"/>
              </a:rPr>
              <a:t>"Hello, "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name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endl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EEB8F-8727-44CE-AEC1-15B7BC4A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33DD36-FA20-4E35-A5E1-DADA7847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81125"/>
            <a:ext cx="3581400" cy="44386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5302DD-63B8-46AB-8CD8-588CE684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57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9B8C"/>
                </a:solidFill>
              </a:defRPr>
            </a:pPr>
            <a:r>
              <a:rPr sz="1650" b="1">
                <a:solidFill>
                  <a:srgbClr val="009B8C"/>
                </a:solidFill>
              </a:rPr>
              <a:t>读代码时，先问三个问题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4F82B2-1CDF-4517-BD31-6C3CEB3A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526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A52258-67F4-4194-B548-B3B1FA02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getline 读到换行符为止。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0621E4-4253-486F-BD2C-305CD193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956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BA0A2B-19FC-4364-BF27-33294297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956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empty() 判断是否为空。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8FE97E-A4A9-4560-A955-6FF26B37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160A96-B067-4C7C-B46A-C6440B6A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如果前面刚用 cin &gt;&gt;，先 cin.ignore() 再 getline。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5B8ADB-C459-4885-96D6-19E7FD22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53000"/>
            <a:ext cx="28765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CD817B-4817-414B-80B9-42341DFC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482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运行后，先观察输出，再改一个值验证理解。</a:t>
            </a:r>
          </a:p>
        </p:txBody>
      </p:sp>
    </p:spTree>
    <p:extLst>
      <p:ext uri="{BB962C8B-B14F-4D97-AF65-F5344CB8AC3E}">
        <p14:creationId xmlns:p14="http://schemas.microsoft.com/office/powerpoint/2010/main" val="3523025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8F7B27-E43E-4417-AF22-FF46EE4F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1636C-3102-491C-9856-B2963C62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B8C"/>
                </a:solidFill>
              </a:defRPr>
            </a:pPr>
            <a:r>
              <a:rPr sz="1350" b="1">
                <a:solidFill>
                  <a:srgbClr val="009B8C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AB705-31F4-4F3A-8E8C-B08F356E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string 常见坑：混用 cin 与 getline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5F414-513B-4023-B443-03830920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67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换行符还留在输入缓冲区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49902-D97F-4A22-A95D-4488386C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2026 新生暑期技术实践培训 · C++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05101-F2AB-4DFD-A22B-64B5D26A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14 / 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66CA5-E837-41D5-A4AE-A4C16D94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858000" cy="4438650"/>
          </a:xfrm>
          <a:prstGeom xmlns:a="http://schemas.openxmlformats.org/drawingml/2006/main" prst="roundRect">
            <a:avLst>
              <a:gd name="adj" fmla="val 343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0951F-F48B-4A79-8780-350587B6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age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70F71-1572-44BD-98D4-CE5C89AA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7DD3FC"/>
                </a:solidFill>
                <a:latin typeface="Menlo"/>
                <a:ea typeface="Menlo"/>
                <a:cs typeface="Menlo"/>
              </a:rPr>
              <a:t>string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name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88BF1A-E901-4AEF-B970-014593E2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CBFE82-DF11-4C1E-832F-460FFE0C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cin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&gt;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&gt;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age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92D57-5F54-491E-ACB4-4DD128EA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cin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.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ignore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E7EC9-2B87-49E7-99D1-F5831BC2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getline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cin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,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name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388390-BD85-4B2E-985F-375C43AC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C8A97A-1E1D-4584-BAC3-528CE940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cout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name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72E0B8"/>
                </a:solidFill>
                <a:latin typeface="Menlo"/>
                <a:ea typeface="Menlo"/>
                <a:cs typeface="Menlo"/>
              </a:rPr>
              <a:t>", "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age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endl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878B75-839C-4233-848B-4AEE2FE0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81125"/>
            <a:ext cx="3581400" cy="44386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C332D1-A4CD-4EC9-A0F2-48A05FBA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57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9B8C"/>
                </a:solidFill>
              </a:defRPr>
            </a:pPr>
            <a:r>
              <a:rPr sz="1650" b="1">
                <a:solidFill>
                  <a:srgbClr val="009B8C"/>
                </a:solidFill>
              </a:rPr>
              <a:t>读代码时，先问三个问题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87C641-5AB1-4EA8-B363-253540EE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526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97FB5B-2017-4F18-9B5C-AAD946A2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cin &gt;&gt; age 后，用户按下的回车仍在缓冲区。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0EF4D8-875F-4CA1-9463-F785E1AC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956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56E43E-AF5E-493E-9E37-350EB307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956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ignore() 丢弃一个换行符。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5F52C9-E2F9-40E9-9B69-2D2EE255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D6D781-BDFD-464E-ABE5-02D915E6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真实程序中可用 numeric_limits 更严谨地清空缓冲。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26E0F7-090B-4D48-B05B-6AD955F2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53000"/>
            <a:ext cx="28765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48F145-3AF7-4C98-BF9A-7180000A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482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运行后，先观察输出，再改一个值验证理解。</a:t>
            </a:r>
          </a:p>
        </p:txBody>
      </p:sp>
    </p:spTree>
    <p:extLst>
      <p:ext uri="{BB962C8B-B14F-4D97-AF65-F5344CB8AC3E}">
        <p14:creationId xmlns:p14="http://schemas.microsoft.com/office/powerpoint/2010/main" val="6982680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785D62-2C7E-4216-A1DB-21CE3C8C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8986B-0E4B-4DAF-B609-EE8E3496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B8C"/>
                </a:solidFill>
              </a:defRPr>
            </a:pPr>
            <a:r>
              <a:rPr sz="1350" b="1">
                <a:solidFill>
                  <a:srgbClr val="009B8C"/>
                </a:solidFill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4DF07-B3DA-46EC-A282-110B6731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到这里，我们会处理“一条学生记录”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A8974-01A8-470A-BBF8-16FF6488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67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但一门课有很多学生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455E4-8CDB-4EC8-88D3-39F08B37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2026 新生暑期技术实践培训 · C++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2E06C-4EE3-43D2-9B16-175DB848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15 / 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C4EB2-BF95-4F48-9454-BF90E7F6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14300" cy="443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FAA8F-FF16-45EF-8662-AB796BC4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4954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9B8C"/>
                </a:solidFill>
              </a:defRPr>
            </a:pPr>
            <a:r>
              <a:rPr sz="2025" b="1">
                <a:solidFill>
                  <a:srgbClr val="009B8C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145BF-07C8-4077-9182-05189BCB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954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A43"/>
                </a:solidFill>
              </a:defRPr>
            </a:pPr>
            <a:r>
              <a:rPr sz="1875" b="0">
                <a:solidFill>
                  <a:srgbClr val="102A43"/>
                </a:solidFill>
              </a:rPr>
              <a:t>score1、score2、score3 会让程序失控。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B9582-C51F-4895-9BEC-5E56700E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764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9B8C"/>
                </a:solidFill>
              </a:defRPr>
            </a:pPr>
            <a:r>
              <a:rPr sz="2025" b="1">
                <a:solidFill>
                  <a:srgbClr val="009B8C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2EB54E-D599-43EE-A0AA-C010475B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764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A43"/>
                </a:solidFill>
              </a:defRPr>
            </a:pPr>
            <a:r>
              <a:rPr sz="1875" b="0">
                <a:solidFill>
                  <a:srgbClr val="102A43"/>
                </a:solidFill>
              </a:rPr>
              <a:t>把同类型、同用途的数据排成一列：vector。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8951D-9227-4A65-999D-9F4D1C56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575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9B8C"/>
                </a:solidFill>
              </a:defRPr>
            </a:pPr>
            <a:r>
              <a:rPr sz="2025" b="1">
                <a:solidFill>
                  <a:srgbClr val="009B8C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DFE1BB-85DF-4771-855D-EB860772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575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A43"/>
                </a:solidFill>
              </a:defRPr>
            </a:pPr>
            <a:r>
              <a:rPr sz="1875" b="0">
                <a:solidFill>
                  <a:srgbClr val="102A43"/>
                </a:solidFill>
              </a:rPr>
              <a:t>vector 会自己记住长度，并能按下标访问。</a:t>
            </a:r>
          </a:p>
        </p:txBody>
      </p:sp>
    </p:spTree>
    <p:extLst>
      <p:ext uri="{BB962C8B-B14F-4D97-AF65-F5344CB8AC3E}">
        <p14:creationId xmlns:p14="http://schemas.microsoft.com/office/powerpoint/2010/main" val="8035671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55608A-D5C0-4D6F-BE9F-92E7E951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4B8066-60CF-4AD6-9CD1-CC64CE50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B8C"/>
                </a:solidFill>
              </a:defRPr>
            </a:pPr>
            <a:r>
              <a:rPr sz="1350" b="1">
                <a:solidFill>
                  <a:srgbClr val="009B8C"/>
                </a:solidFill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19911-9814-46E9-A2B0-7B54B017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vector：可增长的一组同类型数据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3AA42-55FC-4061-BC6A-F249955F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67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用 &lt;vector&gt;，下标从 0 开始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B1725-6D5B-442E-914B-B59C95CB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2026 新生暑期技术实践培训 · C++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0C63D-EBAB-4DA3-95EE-478E4C57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16 / 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0AFF7-1FD7-431F-B9B6-C3B7ECCF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858000" cy="4438650"/>
          </a:xfrm>
          <a:prstGeom xmlns:a="http://schemas.openxmlformats.org/drawingml/2006/main" prst="roundRect">
            <a:avLst>
              <a:gd name="adj" fmla="val 343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8BEEC1-C0A0-4D93-8EB4-FF72FC07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#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include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7DD3FC"/>
                </a:solidFill>
                <a:latin typeface="Menlo"/>
                <a:ea typeface="Menlo"/>
                <a:cs typeface="Menlo"/>
              </a:rPr>
              <a:t>vector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2DDE0F-836F-4AD6-A005-1201C3FB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2CE83-E638-4FCC-9DA1-548D7120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7DD3FC"/>
                </a:solidFill>
                <a:latin typeface="Menlo"/>
                <a:ea typeface="Menlo"/>
                <a:cs typeface="Menlo"/>
              </a:rPr>
              <a:t>vector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&gt;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scores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=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{</a:t>
            </a:r>
            <a:r>
              <a:rPr sz="1050">
                <a:solidFill>
                  <a:srgbClr val="FDE68A"/>
                </a:solidFill>
                <a:latin typeface="Menlo"/>
                <a:ea typeface="Menlo"/>
                <a:cs typeface="Menlo"/>
              </a:rPr>
              <a:t>88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,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E68A"/>
                </a:solidFill>
                <a:latin typeface="Menlo"/>
                <a:ea typeface="Menlo"/>
                <a:cs typeface="Menlo"/>
              </a:rPr>
              <a:t>92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,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E68A"/>
                </a:solidFill>
                <a:latin typeface="Menlo"/>
                <a:ea typeface="Menlo"/>
                <a:cs typeface="Menlo"/>
              </a:rPr>
              <a:t>76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6F477-0AEF-4878-8065-4CE16CE1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scores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.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push_back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FDE68A"/>
                </a:solidFill>
                <a:latin typeface="Menlo"/>
                <a:ea typeface="Menlo"/>
                <a:cs typeface="Menlo"/>
              </a:rPr>
              <a:t>95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214868-D479-4B55-A830-CB0C8D93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9CD8B2-4F0A-4692-8E72-7155F16F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cout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scores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.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size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endl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A1C6E0-29F3-4EEC-8416-B4F0DDCD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cout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scores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[</a:t>
            </a:r>
            <a:r>
              <a:rPr sz="1050">
                <a:solidFill>
                  <a:srgbClr val="FDE68A"/>
                </a:solidFill>
                <a:latin typeface="Menlo"/>
                <a:ea typeface="Menlo"/>
                <a:cs typeface="Menlo"/>
              </a:rPr>
              <a:t>0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]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endl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F3B16B-5DDA-4883-ADB3-2E57672B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cout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scores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[</a:t>
            </a:r>
            <a:r>
              <a:rPr sz="1050">
                <a:solidFill>
                  <a:srgbClr val="FDE68A"/>
                </a:solidFill>
                <a:latin typeface="Menlo"/>
                <a:ea typeface="Menlo"/>
                <a:cs typeface="Menlo"/>
              </a:rPr>
              <a:t>3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]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endl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F6D130-057F-4D98-9C33-49AFB221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81125"/>
            <a:ext cx="3581400" cy="44386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1ECD2F-F77D-4583-9E42-578A7D7A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57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9B8C"/>
                </a:solidFill>
              </a:defRPr>
            </a:pPr>
            <a:r>
              <a:rPr sz="1650" b="1">
                <a:solidFill>
                  <a:srgbClr val="009B8C"/>
                </a:solidFill>
              </a:rPr>
              <a:t>读代码时，先问三个问题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B9E3FA-419E-4F4F-9811-54E65F93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526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AE98FB-51F8-4E16-8D4E-F9707E1E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vector&lt;int&gt; 表示“装 int 的向量”。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767413-5C94-4A76-91CA-3C7BFCBE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956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893216-D0E6-4736-BD5D-8FA763F2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956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push_back 把元素放到末尾。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35683B-F246-4350-A6FA-B100F1E9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AFE63B-060F-4255-9CAF-BA7B2B13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size() 会随元素数量变化。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A3856D-1B35-4A65-94AB-0672E507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815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B29C14-F320-46A8-9211-F3EB55B1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815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scores[0] 是第一个，不是 scores[1]。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39D1E5-5CDC-42D7-A165-92739B7B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53000"/>
            <a:ext cx="28765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73CC80-E395-4AB4-AC73-488FDCB5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482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运行后，先观察输出，再改一个值验证理解。</a:t>
            </a:r>
          </a:p>
        </p:txBody>
      </p:sp>
    </p:spTree>
    <p:extLst>
      <p:ext uri="{BB962C8B-B14F-4D97-AF65-F5344CB8AC3E}">
        <p14:creationId xmlns:p14="http://schemas.microsoft.com/office/powerpoint/2010/main" val="7314695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CEB168-2813-4DC9-874F-4381671F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079D4-491D-4931-B1A9-4CCD1FC4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B8C"/>
                </a:solidFill>
              </a:defRPr>
            </a:pPr>
            <a:r>
              <a:rPr sz="1350" b="1">
                <a:solidFill>
                  <a:srgbClr val="009B8C"/>
                </a:solidFill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61ED8-CB77-4505-A299-AF18D50C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遍历：让循环依次访问每个元素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F5FED-47B8-4DF9-B1DA-63BB614D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67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先掌握下标循环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3EC33-84EC-4EE5-A9FA-AFCFAF08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2026 新生暑期技术实践培训 · C++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7C5A6-CA03-42D5-A986-64E30876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17 / 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D42475-B532-4A03-BEB1-22D0795E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858000" cy="4438650"/>
          </a:xfrm>
          <a:prstGeom xmlns:a="http://schemas.openxmlformats.org/drawingml/2006/main" prst="roundRect">
            <a:avLst>
              <a:gd name="adj" fmla="val 343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75C52-28ED-4864-BF47-8772D5F8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7DD3FC"/>
                </a:solidFill>
                <a:latin typeface="Menlo"/>
                <a:ea typeface="Menlo"/>
                <a:cs typeface="Menlo"/>
              </a:rPr>
              <a:t>vector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&gt;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scores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=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{</a:t>
            </a:r>
            <a:r>
              <a:rPr sz="1050">
                <a:solidFill>
                  <a:srgbClr val="FDE68A"/>
                </a:solidFill>
                <a:latin typeface="Menlo"/>
                <a:ea typeface="Menlo"/>
                <a:cs typeface="Menlo"/>
              </a:rPr>
              <a:t>88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,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E68A"/>
                </a:solidFill>
                <a:latin typeface="Menlo"/>
                <a:ea typeface="Menlo"/>
                <a:cs typeface="Menlo"/>
              </a:rPr>
              <a:t>92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,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E68A"/>
                </a:solidFill>
                <a:latin typeface="Menlo"/>
                <a:ea typeface="Menlo"/>
                <a:cs typeface="Menlo"/>
              </a:rPr>
              <a:t>76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5DF9F-2B59-4F8F-92BA-1AFADA23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06A1C-D9BE-4FE8-95D6-9B861299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for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7DD3FC"/>
                </a:solidFill>
                <a:latin typeface="Menlo"/>
                <a:ea typeface="Menlo"/>
                <a:cs typeface="Menlo"/>
              </a:rPr>
              <a:t>size_t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i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=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E68A"/>
                </a:solidFill>
                <a:latin typeface="Menlo"/>
                <a:ea typeface="Menlo"/>
                <a:cs typeface="Menlo"/>
              </a:rPr>
              <a:t>0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i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scores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.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size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i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+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+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{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98C62-783F-4C2F-A29E-E88AB939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cout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72E0B8"/>
                </a:solidFill>
                <a:latin typeface="Menlo"/>
                <a:ea typeface="Menlo"/>
                <a:cs typeface="Menlo"/>
              </a:rPr>
              <a:t>"#"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i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+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E68A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4C3FAC-263C-4456-AD62-F7003177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72E0B8"/>
                </a:solidFill>
                <a:latin typeface="Menlo"/>
                <a:ea typeface="Menlo"/>
                <a:cs typeface="Menlo"/>
              </a:rPr>
              <a:t>": "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scores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[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i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]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endl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AD6E9F-34EA-41FD-BA34-6833A8EF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54D471-EEBF-4748-868D-AB74CA39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81125"/>
            <a:ext cx="3581400" cy="44386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5129A0-F35E-4457-AE23-A0BB93A9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57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9B8C"/>
                </a:solidFill>
              </a:defRPr>
            </a:pPr>
            <a:r>
              <a:rPr sz="1650" b="1">
                <a:solidFill>
                  <a:srgbClr val="009B8C"/>
                </a:solidFill>
              </a:rPr>
              <a:t>读代码时，先问三个问题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7D6930-B2C2-4DF9-9F00-D30F3499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526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934B82-E89F-4C16-BAFA-D473A791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i 从 0 开始，刚好与下标对应。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575EEC-4868-4D39-9C91-B85B02FE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956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608612-E59E-47BB-849B-2C05A10E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956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条件必须是 i &lt; size()，不能写 &lt;=。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536589-8B49-46FC-9234-3E0EA448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15603D-D81D-42C0-BD36-1CCEB3C2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size_t 是 size() 返回的无符号类型。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BDCD04-77DF-4D8F-80AC-7AAD09AE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53000"/>
            <a:ext cx="28765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F0260B-AB18-409D-9BE3-72DA89E3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482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运行后，先观察输出，再改一个值验证理解。</a:t>
            </a:r>
          </a:p>
        </p:txBody>
      </p:sp>
    </p:spTree>
    <p:extLst>
      <p:ext uri="{BB962C8B-B14F-4D97-AF65-F5344CB8AC3E}">
        <p14:creationId xmlns:p14="http://schemas.microsoft.com/office/powerpoint/2010/main" val="14214243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BC09A3-BC5B-4794-851D-FAEC2391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4B3F7-A46F-48CD-A3B7-F2779942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B8C"/>
                </a:solidFill>
              </a:defRPr>
            </a:pPr>
            <a:r>
              <a:rPr sz="1350" b="1">
                <a:solidFill>
                  <a:srgbClr val="009B8C"/>
                </a:solidFill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2AD63-7B6E-4212-9541-7754E4C1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范围 for：只关心元素时更简洁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2F2C0-61D8-4545-875B-16EA9BD7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67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读数据时优先用它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D9577-444A-467E-A832-E0070BCA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2026 新生暑期技术实践培训 · C++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3C9E9-481A-479B-87B3-BC331AC0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18 / 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210A4-09A1-4898-877D-B1C0A302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858000" cy="4438650"/>
          </a:xfrm>
          <a:prstGeom xmlns:a="http://schemas.openxmlformats.org/drawingml/2006/main" prst="roundRect">
            <a:avLst>
              <a:gd name="adj" fmla="val 343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F28A0-8F1A-4ACA-AFD9-EA37A1CA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7DD3FC"/>
                </a:solidFill>
                <a:latin typeface="Menlo"/>
                <a:ea typeface="Menlo"/>
                <a:cs typeface="Menlo"/>
              </a:rPr>
              <a:t>vector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&gt;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scores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=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{</a:t>
            </a:r>
            <a:r>
              <a:rPr sz="1050">
                <a:solidFill>
                  <a:srgbClr val="FDE68A"/>
                </a:solidFill>
                <a:latin typeface="Menlo"/>
                <a:ea typeface="Menlo"/>
                <a:cs typeface="Menlo"/>
              </a:rPr>
              <a:t>88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,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E68A"/>
                </a:solidFill>
                <a:latin typeface="Menlo"/>
                <a:ea typeface="Menlo"/>
                <a:cs typeface="Menlo"/>
              </a:rPr>
              <a:t>92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,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E68A"/>
                </a:solidFill>
                <a:latin typeface="Menlo"/>
                <a:ea typeface="Menlo"/>
                <a:cs typeface="Menlo"/>
              </a:rPr>
              <a:t>76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9A783-1D8C-4E87-ABC0-7012B1AA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sum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=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E68A"/>
                </a:solidFill>
                <a:latin typeface="Menlo"/>
                <a:ea typeface="Menlo"/>
                <a:cs typeface="Menlo"/>
              </a:rPr>
              <a:t>0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FD76E6-4086-4038-BCD6-4F94FB3F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9FF41-AC40-497C-A882-1211A699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for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: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scores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{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FCEAF2-D6BD-4667-A08B-284D4FA1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sum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+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=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ADE6EB-0470-4066-9FD8-B832507D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4CF88E-E18D-4FE0-83D8-AAE232AD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3F6D9-34A4-4D23-A2AE-9E8C07A9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cout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sum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endl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637DBB-FB74-4880-963B-58C427B0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81125"/>
            <a:ext cx="3581400" cy="44386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6A2931-A9D0-45E5-813E-8E84D552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57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9B8C"/>
                </a:solidFill>
              </a:defRPr>
            </a:pPr>
            <a:r>
              <a:rPr sz="1650" b="1">
                <a:solidFill>
                  <a:srgbClr val="009B8C"/>
                </a:solidFill>
              </a:rPr>
              <a:t>读代码时，先问三个问题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B89D84-E8BA-4F83-9C84-1F87BB1D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526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1CB4FF-548A-4ED0-8410-9C10A545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score 每轮取到一个元素的副本。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B55CB2-AD3D-4F1B-B4F6-67F3A257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956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1A9622-E2DC-436A-B0E3-A0873B16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956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这里不需要下标，代码更少。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DCA55A-6C64-4DC1-A3AA-020AA15B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577B1E-E49D-47F7-87BD-8042E829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若要修改原元素，用 int&amp; score。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7A30B6-1EE4-4FFF-8A07-4DC8ECB4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53000"/>
            <a:ext cx="28765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09CE12-004D-487A-B91E-F3445337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482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运行后，先观察输出，再改一个值验证理解。</a:t>
            </a:r>
          </a:p>
        </p:txBody>
      </p:sp>
    </p:spTree>
    <p:extLst>
      <p:ext uri="{BB962C8B-B14F-4D97-AF65-F5344CB8AC3E}">
        <p14:creationId xmlns:p14="http://schemas.microsoft.com/office/powerpoint/2010/main" val="8011050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46F713-1A9C-4366-9E02-8DB85581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C1E2F-58D4-414E-83ED-30CC57ED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B8C"/>
                </a:solidFill>
              </a:defRPr>
            </a:pPr>
            <a:r>
              <a:rPr sz="1350" b="1">
                <a:solidFill>
                  <a:srgbClr val="009B8C"/>
                </a:solidFill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9CADB-C4AA-4847-93E7-4862A076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累加与平均：先保证空容器安全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143FD-6F37-4E8F-AED9-9F86A368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67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空 vector 没有平均分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52A8B-B7EB-4360-B828-61FA3177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2026 新生暑期技术实践培训 · C++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96F19-E2DC-413D-BD77-43ABEF46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19 / 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1A111-1A06-461A-BAAC-C4140FDA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858000" cy="4438650"/>
          </a:xfrm>
          <a:prstGeom xmlns:a="http://schemas.openxmlformats.org/drawingml/2006/main" prst="roundRect">
            <a:avLst>
              <a:gd name="adj" fmla="val 343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ABDD5-480F-4402-8C19-E703420A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double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average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const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7DD3FC"/>
                </a:solidFill>
                <a:latin typeface="Menlo"/>
                <a:ea typeface="Menlo"/>
                <a:cs typeface="Menlo"/>
              </a:rPr>
              <a:t>vector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&gt;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&amp;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scores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{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3299EB-73D5-4E89-8A98-EBD9BA99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if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scores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.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empty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{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84D7CD-71DA-4AD8-B53E-D5AE4C0A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return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E68A"/>
                </a:solidFill>
                <a:latin typeface="Menlo"/>
                <a:ea typeface="Menlo"/>
                <a:cs typeface="Menlo"/>
              </a:rPr>
              <a:t>0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.</a:t>
            </a:r>
            <a:r>
              <a:rPr sz="1050">
                <a:solidFill>
                  <a:srgbClr val="FDE68A"/>
                </a:solidFill>
                <a:latin typeface="Menlo"/>
                <a:ea typeface="Menlo"/>
                <a:cs typeface="Menlo"/>
              </a:rPr>
              <a:t>0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2D7D64-81C0-442C-B004-6DB1D35F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A4ACE9-3C3F-46ED-B56B-913CDA42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sum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=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E68A"/>
                </a:solidFill>
                <a:latin typeface="Menlo"/>
                <a:ea typeface="Menlo"/>
                <a:cs typeface="Menlo"/>
              </a:rPr>
              <a:t>0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2D16D-0360-4488-BA13-8CECE09A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for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: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scores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{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57CEB3-07DF-41B1-8B95-2B4CCDE8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sum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+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=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C4701D-28BE-4CC6-B337-783DE844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13ABDF-0BF5-4D60-8E4B-45723922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return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static_cast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double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&gt;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sum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/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scores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.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size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9A7E1-7BDD-43DA-823C-AB37D63E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7151D0-3442-4773-A445-CA894D37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81125"/>
            <a:ext cx="3581400" cy="44386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9834CB-B430-43CF-A74B-B4CFD3BA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57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9B8C"/>
                </a:solidFill>
              </a:defRPr>
            </a:pPr>
            <a:r>
              <a:rPr sz="1650" b="1">
                <a:solidFill>
                  <a:srgbClr val="009B8C"/>
                </a:solidFill>
              </a:rPr>
              <a:t>读代码时，先问三个问题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35A992-E2E2-4B09-B52A-E97713EE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526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A10EDC-2DC3-4129-AFF3-597A4730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const 表示函数不会修改 scores。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E0C1FA-B7C1-4AD9-8EAB-5A1CC45C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956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BF56CC-DF67-4FD9-BF18-5370520C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956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&amp; 避免复制整个 vector。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C72532-1502-4284-821D-25E8115B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E8A9F3-2E08-4B3F-ACBA-9C709DC7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empty() 是比 size() == 0 更清楚的表达。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9C6B1A-519C-4C5D-8064-875BCBA0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53000"/>
            <a:ext cx="28765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5BDFED-E9F6-4746-971E-F14B13A1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482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运行后，先观察输出，再改一个值验证理解。</a:t>
            </a:r>
          </a:p>
        </p:txBody>
      </p:sp>
    </p:spTree>
    <p:extLst>
      <p:ext uri="{BB962C8B-B14F-4D97-AF65-F5344CB8AC3E}">
        <p14:creationId xmlns:p14="http://schemas.microsoft.com/office/powerpoint/2010/main" val="167885190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1EBAF2-0827-4E29-8BCA-E53D2ED7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56372-B150-415A-AB85-C1ED5A46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B8C"/>
                </a:solidFill>
              </a:defRPr>
            </a:pPr>
            <a:r>
              <a:rPr sz="1350" b="1">
                <a:solidFill>
                  <a:srgbClr val="009B8C"/>
                </a:solidFill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A2709-E298-4BCA-A606-4DA23A07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找最大值：保留“目前最好”的答案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D06B8-6876-4D63-B219-231C323D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67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先从第一个元素开始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05F90-8A66-4DD5-A64E-79EE4B59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2026 新生暑期技术实践培训 · C++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F697B-1DBE-43EB-B4DE-2BE3CC25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20 / 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90996-2A75-4A58-A011-321F160A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858000" cy="4438650"/>
          </a:xfrm>
          <a:prstGeom xmlns:a="http://schemas.openxmlformats.org/drawingml/2006/main" prst="roundRect">
            <a:avLst>
              <a:gd name="adj" fmla="val 343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8E7F8-F4F0-4EC0-9774-41D645EC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findMax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const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7DD3FC"/>
                </a:solidFill>
                <a:latin typeface="Menlo"/>
                <a:ea typeface="Menlo"/>
                <a:cs typeface="Menlo"/>
              </a:rPr>
              <a:t>vector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&gt;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&amp;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scores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{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981F0-04DF-4EDA-BFD2-480292B5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best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=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scores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[</a:t>
            </a:r>
            <a:r>
              <a:rPr sz="1050">
                <a:solidFill>
                  <a:srgbClr val="FDE68A"/>
                </a:solidFill>
                <a:latin typeface="Menlo"/>
                <a:ea typeface="Menlo"/>
                <a:cs typeface="Menlo"/>
              </a:rPr>
              <a:t>0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]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CC1F0-2943-4871-9B5D-DE514F1C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for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: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scores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{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5770A-59DF-4712-A3A0-EF878274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if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&gt;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best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{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85DA4-716B-4306-B09D-2D98A0A6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   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best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=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8EDB8-2DA2-4C34-9A22-EC3B5FF3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911FDB-8915-4543-A873-1F928C2A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D9416E-4A62-45F9-95ED-6E46B7E9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return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best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EC1736-1F8A-477A-9C6B-E0261BFD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17CFB6-1922-4A9B-BECB-77DD165C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81125"/>
            <a:ext cx="3581400" cy="44386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FFB341-D66A-4C2E-A907-D7B3E3B7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57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9B8C"/>
                </a:solidFill>
              </a:defRPr>
            </a:pPr>
            <a:r>
              <a:rPr sz="1650" b="1">
                <a:solidFill>
                  <a:srgbClr val="009B8C"/>
                </a:solidFill>
              </a:rPr>
              <a:t>读代码时，先问三个问题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E615A7-008E-4D9A-AC4F-EF399FEA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526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1511BC-9DD5-46C5-B058-1A7B6478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前提：scores 不能为空。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7890A8-AD02-4267-867F-2AFA2E75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956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F051E8-93CE-4B28-84EF-C95ED80B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956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best 是循环不变式：它始终是已看过元素中的最大值。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6C1C78-672D-473B-BF46-74079C65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C59C00-B79A-431F-AA19-4B82BDDF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空数据时要在调用前处理，或在函数内检查。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FC29EB-868C-4C5E-B0FC-001CF57B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53000"/>
            <a:ext cx="28765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C654B2-036D-4E71-8A09-47F86592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482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运行后，先观察输出，再改一个值验证理解。</a:t>
            </a:r>
          </a:p>
        </p:txBody>
      </p:sp>
    </p:spTree>
    <p:extLst>
      <p:ext uri="{BB962C8B-B14F-4D97-AF65-F5344CB8AC3E}">
        <p14:creationId xmlns:p14="http://schemas.microsoft.com/office/powerpoint/2010/main" val="144946949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CE58AD-C2F7-4396-80CD-EA1B35ED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DB537-2AEF-4C03-9AD4-CF416230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B8C"/>
                </a:solidFill>
              </a:defRPr>
            </a:pPr>
            <a:r>
              <a:rPr sz="1350" b="1">
                <a:solidFill>
                  <a:srgbClr val="009B8C"/>
                </a:solidFill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3E4524-3791-4372-90B6-B3BEA415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下标循环与范围 for：各有擅长场景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61406-FFDF-487B-8459-E9B4A864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67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别机械选择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B5AAB-8376-44D1-AC50-D556499C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2026 新生暑期技术实践培训 · C++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568C3-86FE-4771-8F70-C1444EB7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21 / 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0C26C-34CD-4962-B315-919FF4A2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000625" cy="41148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C7FE4-F715-4FBB-8E51-28CEECAC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428750"/>
            <a:ext cx="5000625" cy="41148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2B3D25-4C0D-478F-9DA3-D0C40967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9B8C"/>
                </a:solidFill>
              </a:defRPr>
            </a:pPr>
            <a:r>
              <a:rPr sz="1875" b="1">
                <a:solidFill>
                  <a:srgbClr val="009B8C"/>
                </a:solidFill>
              </a:rPr>
              <a:t>下标循环适合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BF567-1EB8-4DCD-BEE0-88A0CEA5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6954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76F51"/>
                </a:solidFill>
              </a:defRPr>
            </a:pPr>
            <a:r>
              <a:rPr sz="1875" b="1">
                <a:solidFill>
                  <a:srgbClr val="E76F51"/>
                </a:solidFill>
              </a:rPr>
              <a:t>范围 for 适合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75B4D0-920D-49DF-B8B6-BD5E40CC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需要位置 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8F96F7-DD69-4563-A555-4857020B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要访问相邻元素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E9EDD4-34D0-48EB-B942-9D3CA6F0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要修改指定位置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72C8F5-326C-45F4-81E9-B2F31034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24790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只需要每个元素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4BE5C1-3AAF-432B-9D8C-8C59CE15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83845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求和、计数、打印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AE69D7-22C8-4229-BB08-62C91F3F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42900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代码更短、更不易越界</a:t>
            </a:r>
          </a:p>
        </p:txBody>
      </p:sp>
    </p:spTree>
    <p:extLst>
      <p:ext uri="{BB962C8B-B14F-4D97-AF65-F5344CB8AC3E}">
        <p14:creationId xmlns:p14="http://schemas.microsoft.com/office/powerpoint/2010/main" val="151788103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EC78C9-2F48-440E-8404-91C494B3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22C8AF-B3C1-4947-B193-88ED35B3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B8C"/>
                </a:solidFill>
              </a:defRPr>
            </a:pPr>
            <a:r>
              <a:rPr sz="1350" b="1">
                <a:solidFill>
                  <a:srgbClr val="009B8C"/>
                </a:solidFill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B6B24-8693-4A00-AE20-8305E315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统计器第 1 步：读入数量与成绩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04D5D-B0B2-4996-8915-CE38E191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67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先让数据进入 vector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DB9CD-34D8-49BB-BAF7-9B1CC0F6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2026 新生暑期技术实践培训 · C++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C8801-5F6E-44C5-97B7-9C34CCAE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22 / 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81CB5-4A0D-4F74-A87B-7C855B2E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858000" cy="4438650"/>
          </a:xfrm>
          <a:prstGeom xmlns:a="http://schemas.openxmlformats.org/drawingml/2006/main" prst="roundRect">
            <a:avLst>
              <a:gd name="adj" fmla="val 343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639377-EB6F-4C44-AA62-35B2D388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7DD3FC"/>
                </a:solidFill>
                <a:latin typeface="Menlo"/>
                <a:ea typeface="Menlo"/>
                <a:cs typeface="Menlo"/>
              </a:rPr>
              <a:t>vector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&gt;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readScores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{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9D6937-14E9-40C0-BF03-105409EC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count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43D45-9893-4229-BEC1-F437E8AF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cin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&gt;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&gt;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count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04F61-0C26-4899-9CA7-0472B190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7DD3FC"/>
                </a:solidFill>
                <a:latin typeface="Menlo"/>
                <a:ea typeface="Menlo"/>
                <a:cs typeface="Menlo"/>
              </a:rPr>
              <a:t>vector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&gt;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scores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EF07E7-B3B8-4984-BC86-96D7EAD4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FB2A71-F187-40D0-9864-537C8680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for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i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=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E68A"/>
                </a:solidFill>
                <a:latin typeface="Menlo"/>
                <a:ea typeface="Menlo"/>
                <a:cs typeface="Menlo"/>
              </a:rPr>
              <a:t>0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i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count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i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+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+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{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CD317E-1C06-4C5C-86FC-036D8FEB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642E71-D7D4-411D-A6E3-58ED899F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cin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&gt;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&gt;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4411C1-B8D7-4579-A1E1-0755A318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scores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.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push_back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793315-B903-4F55-BF94-53869D5C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6D935C-B70F-4BD0-A0EF-866BAC73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return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scores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6C37F7-5213-4CC1-A3A6-4CB861F0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A51918-97A7-41CB-9277-46A525BD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81125"/>
            <a:ext cx="3581400" cy="44386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956898-BBAB-4E34-96AF-56EE459C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57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9B8C"/>
                </a:solidFill>
              </a:defRPr>
            </a:pPr>
            <a:r>
              <a:rPr sz="1650" b="1">
                <a:solidFill>
                  <a:srgbClr val="009B8C"/>
                </a:solidFill>
              </a:rPr>
              <a:t>读代码时，先问三个问题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BBFCD2-2802-4222-BE41-15F919AF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526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DC2A63-B139-4BA0-9B2C-18D5A252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count 决定循环次数。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5F0E10-EAF8-4EB0-B586-88F00F71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956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48EFD3-3C35-4221-95A8-3F3CAC23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956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score 是每一轮的临时变量。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1F877C-5DBC-489E-8ED0-42413F90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036C8B-749E-4F70-9DED-8023A83B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返回 vector，main 不必知道读入细节。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076E2A-05E0-440B-B041-C3244C2A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53000"/>
            <a:ext cx="28765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FBA219-E021-48FB-AFC6-FDEFDF25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482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运行后，先观察输出，再改一个值验证理解。</a:t>
            </a:r>
          </a:p>
        </p:txBody>
      </p:sp>
    </p:spTree>
    <p:extLst>
      <p:ext uri="{BB962C8B-B14F-4D97-AF65-F5344CB8AC3E}">
        <p14:creationId xmlns:p14="http://schemas.microsoft.com/office/powerpoint/2010/main" val="82095423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539967-4F1A-4C8B-8B06-6B0800E7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7EF55-AA3E-466A-906F-453B25E4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B8C"/>
                </a:solidFill>
              </a:defRPr>
            </a:pPr>
            <a:r>
              <a:rPr sz="1350" b="1">
                <a:solidFill>
                  <a:srgbClr val="009B8C"/>
                </a:solidFill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D50DE-62E2-4083-AD3F-D9CF2B1A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统计器第 2 步：把计算变成可复用函数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6F3AF-9B0B-4291-9C91-E5AC9DCF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67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每个函数只做一件事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47791-F61D-4116-93A1-A41E623B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2026 新生暑期技术实践培训 · C++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2C005-8CC8-42AC-8D48-F914D312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23 / 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0004CB-6287-4831-B773-3608A4DB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858000" cy="4438650"/>
          </a:xfrm>
          <a:prstGeom xmlns:a="http://schemas.openxmlformats.org/drawingml/2006/main" prst="roundRect">
            <a:avLst>
              <a:gd name="adj" fmla="val 343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F55BF-1E02-48F6-A84E-6BCF3955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countPass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const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7DD3FC"/>
                </a:solidFill>
                <a:latin typeface="Menlo"/>
                <a:ea typeface="Menlo"/>
                <a:cs typeface="Menlo"/>
              </a:rPr>
              <a:t>vector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&gt;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&amp;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scores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{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560B4-55AF-411F-82EF-DB392FF3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passed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=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E68A"/>
                </a:solidFill>
                <a:latin typeface="Menlo"/>
                <a:ea typeface="Menlo"/>
                <a:cs typeface="Menlo"/>
              </a:rPr>
              <a:t>0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A0EEB-265D-4599-AA9F-4F5F914F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for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: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scores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{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61F9D-57B9-4F17-9350-AFFB58C3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if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&gt;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=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E68A"/>
                </a:solidFill>
                <a:latin typeface="Menlo"/>
                <a:ea typeface="Menlo"/>
                <a:cs typeface="Menlo"/>
              </a:rPr>
              <a:t>60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{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E4FAC8-F608-4634-9D4C-1E5312F1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   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passed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+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+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4DD78F-5013-44E6-9F55-C00F89A8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AD1F3-FB82-40AF-A5E4-F80D5DEC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704431-9C04-40F5-82DA-87BBA74D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return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passed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B4BDA9-A524-436E-AB11-D6591FDF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404BA2-02B4-427C-BEA3-6889A814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81125"/>
            <a:ext cx="3581400" cy="44386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073827-90EC-4DD2-A002-A438DD25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57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9B8C"/>
                </a:solidFill>
              </a:defRPr>
            </a:pPr>
            <a:r>
              <a:rPr sz="1650" b="1">
                <a:solidFill>
                  <a:srgbClr val="009B8C"/>
                </a:solidFill>
              </a:rPr>
              <a:t>读代码时，先问三个问题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065EDA-B898-4644-A902-5B8141EE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526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01539B-6E9E-4630-B26B-9EEC2DE0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passed 从 0 开始，是计数器。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F2238C-882D-40D1-B6C7-44A9C048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956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A68DC6-5C4A-43D6-963F-5CD5DC37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956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条件写在 if 中，而不是散落在 main。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DB31C2-DAA8-4C01-B223-AE359EDE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077B9C-0581-4929-9815-9C1D4943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需求变为 70 分及格时，只改一处。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D1A3E2-E261-433E-B201-B8C7752A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53000"/>
            <a:ext cx="28765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24A904-21E1-4FEE-BF58-29EC0C76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482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运行后，先观察输出，再改一个值验证理解。</a:t>
            </a:r>
          </a:p>
        </p:txBody>
      </p:sp>
    </p:spTree>
    <p:extLst>
      <p:ext uri="{BB962C8B-B14F-4D97-AF65-F5344CB8AC3E}">
        <p14:creationId xmlns:p14="http://schemas.microsoft.com/office/powerpoint/2010/main" val="62971510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62018B-E2B9-49B3-900F-DFCFF4B2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4975C-7639-40A0-93FA-51A7719F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B8C"/>
                </a:solidFill>
              </a:defRPr>
            </a:pPr>
            <a:r>
              <a:rPr sz="1350" b="1">
                <a:solidFill>
                  <a:srgbClr val="009B8C"/>
                </a:solidFill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AB92C-40D3-4888-B355-F535E307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统计器第 3 步：main 像一张流程图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D07DE-6541-4194-9E57-E33B08C8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67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读入 → 计算 → 报告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2A784-D206-4308-8B59-D3D89FAE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2026 新生暑期技术实践培训 · C++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395E1-9126-4A94-AE76-082A9897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24 / 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625DF-C3E1-4D0E-87A0-71BB67EC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858000" cy="4438650"/>
          </a:xfrm>
          <a:prstGeom xmlns:a="http://schemas.openxmlformats.org/drawingml/2006/main" prst="roundRect">
            <a:avLst>
              <a:gd name="adj" fmla="val 343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C9275-C7BC-4CFF-8A74-A5EB64A6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main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{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1A21A2-42AE-4BF7-BBFB-EDB9F719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7DD3FC"/>
                </a:solidFill>
                <a:latin typeface="Menlo"/>
                <a:ea typeface="Menlo"/>
                <a:cs typeface="Menlo"/>
              </a:rPr>
              <a:t>vector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&gt;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scores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=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readScores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ED3244-5AEA-4668-B6A6-7641E352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6291B-38D3-435E-8ECD-A9B9F948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cout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72E0B8"/>
                </a:solidFill>
                <a:latin typeface="Menlo"/>
                <a:ea typeface="Menlo"/>
                <a:cs typeface="Menlo"/>
              </a:rPr>
              <a:t>"Average: "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average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scores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endl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48671C-1E97-46C1-8524-89890919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cout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72E0B8"/>
                </a:solidFill>
                <a:latin typeface="Menlo"/>
                <a:ea typeface="Menlo"/>
                <a:cs typeface="Menlo"/>
              </a:rPr>
              <a:t>"Highest: "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findMax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scores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endl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A922A-3EC5-4358-91FF-C32B3BB3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cout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72E0B8"/>
                </a:solidFill>
                <a:latin typeface="Menlo"/>
                <a:ea typeface="Menlo"/>
                <a:cs typeface="Menlo"/>
              </a:rPr>
              <a:t>"Passed: "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countPass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scores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&lt;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A4AF"/>
                </a:solidFill>
                <a:latin typeface="Menlo"/>
                <a:ea typeface="Menlo"/>
                <a:cs typeface="Menlo"/>
              </a:rPr>
              <a:t>endl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10A24D-3B09-4F50-A712-638E2AFB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2FB733-8F3E-4667-8F6F-1622EA06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81125"/>
            <a:ext cx="3581400" cy="44386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912FE4-DD04-4DAD-91B8-8C817944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57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9B8C"/>
                </a:solidFill>
              </a:defRPr>
            </a:pPr>
            <a:r>
              <a:rPr sz="1650" b="1">
                <a:solidFill>
                  <a:srgbClr val="009B8C"/>
                </a:solidFill>
              </a:rPr>
              <a:t>读代码时，先问三个问题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733D4E-A6EF-4250-9A03-FDF895C8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526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18C957-163F-4706-9C1C-11086885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main 的每一行都说得清用途。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E4FC2-86B1-4860-B4D2-DD4CE6AE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956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11E0BD-BAD7-49CA-88D3-14EFBE92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956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函数之间通过参数和返回值协作。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B5524B-9D92-4549-8C13-24C62C50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238E98-F51F-4D09-8992-012DC39F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这就是“分解问题”的最小工程形态。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FE510C-E669-45D6-9860-43200C7B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53000"/>
            <a:ext cx="28765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327C8E-961C-4877-860D-747AB664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482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运行后，先观察输出，再改一个值验证理解。</a:t>
            </a:r>
          </a:p>
        </p:txBody>
      </p:sp>
    </p:spTree>
    <p:extLst>
      <p:ext uri="{BB962C8B-B14F-4D97-AF65-F5344CB8AC3E}">
        <p14:creationId xmlns:p14="http://schemas.microsoft.com/office/powerpoint/2010/main" val="214733486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069212-17A1-4650-A04E-92C0F04B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27E52-45D6-4A07-899B-2B331885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B8C"/>
                </a:solidFill>
              </a:defRPr>
            </a:pPr>
            <a:r>
              <a:rPr sz="1350" b="1">
                <a:solidFill>
                  <a:srgbClr val="009B8C"/>
                </a:solidFill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B2325-E561-4401-811F-AEAAA4D1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用三组测试数据验证统计器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CA368-96C2-4903-AC80-9AC02F28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67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程序正确不是“只跑一次”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34987-D38D-40DD-BC98-905B8A49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2026 新生暑期技术实践培训 · C++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202E0-A2A3-4318-831B-6F47A57D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25 / 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7C0CE-AC20-4FF5-B041-B4D8AB52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000625" cy="41148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0F20A-17D1-4661-91FB-CF588DEA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428750"/>
            <a:ext cx="5000625" cy="41148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D6D8B-0628-42DE-98AE-CCAF6AA2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9B8C"/>
                </a:solidFill>
              </a:defRPr>
            </a:pPr>
            <a:r>
              <a:rPr sz="1875" b="1">
                <a:solidFill>
                  <a:srgbClr val="009B8C"/>
                </a:solidFill>
              </a:rPr>
              <a:t>正常数据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82DA7B-07CF-48C0-A730-28C94359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6954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76F51"/>
                </a:solidFill>
              </a:defRPr>
            </a:pPr>
            <a:r>
              <a:rPr sz="1875" b="1">
                <a:solidFill>
                  <a:srgbClr val="E76F51"/>
                </a:solidFill>
              </a:rPr>
              <a:t>边界数据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7F7A5-4E77-415C-A6DF-626BB43C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输入：3 / 80 90 100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6D8AE8-AA8A-4E4D-AC94-6DE81259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平均：90；最高：100；通过：3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C84438-0A4E-4FF4-A826-466CAE29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确认基本流程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3E7C89-9EB0-4250-B7D1-0AFEA12F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24790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输入：0（不要调用 findMax）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6E89A3-F83E-4D55-A668-D40BC0B0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83845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输入：1 / 59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AF079D-CB23-4D7F-9AE6-ED8D5019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42900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输入：3 / 60 60 60</a:t>
            </a:r>
          </a:p>
        </p:txBody>
      </p:sp>
    </p:spTree>
    <p:extLst>
      <p:ext uri="{BB962C8B-B14F-4D97-AF65-F5344CB8AC3E}">
        <p14:creationId xmlns:p14="http://schemas.microsoft.com/office/powerpoint/2010/main" val="189523771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03B884-6F28-4825-A899-2754F111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F6CD6E-A044-448D-8C09-3C8C2301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B8C"/>
                </a:solidFill>
              </a:defRPr>
            </a:pPr>
            <a:r>
              <a:rPr sz="1350" b="1">
                <a:solidFill>
                  <a:srgbClr val="009B8C"/>
                </a:solidFill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7A7C5-ABC2-40FD-97B0-D400DA74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调试顺序：先缩小问题，再猜原因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B5672-77C6-4649-9AC0-4E37008B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67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不要盯着整段代码发呆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D17A8-D39F-4A58-A231-2B4670E2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2026 新生暑期技术实践培训 · C++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A299F-4A1D-4533-8083-95589124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26 / 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B6771-1B58-4C33-B589-CD5817E5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14300" cy="443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DD3C50-8437-45C9-8136-35C3DEF8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4954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76F51"/>
                </a:solidFill>
              </a:defRPr>
            </a:pPr>
            <a:r>
              <a:rPr sz="2025" b="1">
                <a:solidFill>
                  <a:srgbClr val="E76F51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B4B6C-B392-42ED-8DFA-BF1406D3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954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A43"/>
                </a:solidFill>
              </a:defRPr>
            </a:pPr>
            <a:r>
              <a:rPr sz="1875" b="0">
                <a:solidFill>
                  <a:srgbClr val="102A43"/>
                </a:solidFill>
              </a:rPr>
              <a:t>编译失败：先看第一条错误和对应行。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44D584-A734-4CC9-8A39-38361F70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764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76F51"/>
                </a:solidFill>
              </a:defRPr>
            </a:pPr>
            <a:r>
              <a:rPr sz="2025" b="1">
                <a:solidFill>
                  <a:srgbClr val="E76F51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C6DFD-14DB-4E93-A0C6-1889F0B0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764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A43"/>
                </a:solidFill>
              </a:defRPr>
            </a:pPr>
            <a:r>
              <a:rPr sz="1875" b="0">
                <a:solidFill>
                  <a:srgbClr val="102A43"/>
                </a:solidFill>
              </a:rPr>
              <a:t>结果不对：打印中间变量，如 count、sum、best。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150AE4-8D8F-498C-8D09-82A824DB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575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76F51"/>
                </a:solidFill>
              </a:defRPr>
            </a:pPr>
            <a:r>
              <a:rPr sz="2025" b="1">
                <a:solidFill>
                  <a:srgbClr val="E76F51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DB3969-C5B1-41D7-A440-37DAB132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575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A43"/>
                </a:solidFill>
              </a:defRPr>
            </a:pPr>
            <a:r>
              <a:rPr sz="1875" b="0">
                <a:solidFill>
                  <a:srgbClr val="102A43"/>
                </a:solidFill>
              </a:rPr>
              <a:t>崩溃或怪值：先检查空 vector 与下标边界。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2F2690-7304-404B-99F4-6AA5B1D7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8385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76F51"/>
                </a:solidFill>
              </a:defRPr>
            </a:pPr>
            <a:r>
              <a:rPr sz="2025" b="1">
                <a:solidFill>
                  <a:srgbClr val="E76F51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5307AB-AD29-44C7-91D1-493E2012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385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A43"/>
                </a:solidFill>
              </a:defRPr>
            </a:pPr>
            <a:r>
              <a:rPr sz="1875" b="0">
                <a:solidFill>
                  <a:srgbClr val="102A43"/>
                </a:solidFill>
              </a:rPr>
              <a:t>每改一处就重新运行最小测试。</a:t>
            </a:r>
          </a:p>
        </p:txBody>
      </p:sp>
    </p:spTree>
    <p:extLst>
      <p:ext uri="{BB962C8B-B14F-4D97-AF65-F5344CB8AC3E}">
        <p14:creationId xmlns:p14="http://schemas.microsoft.com/office/powerpoint/2010/main" val="197209138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31C6E7-1D46-492B-8C3F-ADE3FCAD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EDA31-78F6-49EF-80EB-5AB6CF36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B8C"/>
                </a:solidFill>
              </a:defRPr>
            </a:pPr>
            <a:r>
              <a:rPr sz="1350" b="1">
                <a:solidFill>
                  <a:srgbClr val="009B8C"/>
                </a:solidFill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7A761-7776-496C-91AA-00DB9CEE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课堂项目：给成绩统计器加“等级”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28986D-E978-435D-BAC7-8B13CBC9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67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动手写，才会变成自己的能力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3B0CF-7F81-4F79-B6EA-130BB9D3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2026 新生暑期技术实践培训 · C++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56DBE-BEAE-4D85-974D-F94C2317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27 / 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CECD2A-B57F-457D-B8FF-659CC6ED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0135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A6FC9-129F-4B6C-981B-6F588E93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647825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课堂项目：给成绩统计器加“等级”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74664-5C96-4158-8419-FD088918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9B8C"/>
                </a:solidFill>
              </a:defRPr>
            </a:pPr>
            <a:r>
              <a:rPr sz="1875" b="1">
                <a:solidFill>
                  <a:srgbClr val="009B8C"/>
                </a:solidFill>
              </a:rPr>
              <a:t>建议步骤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3DFDA-6839-426C-8FA0-C9AF7C33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7A0B9-379F-4513-9620-C05368A0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04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9F7921-9F82-45A8-A551-9F8ED610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写 gradeOf(score)：90+ A，80+ B，60+ C，否则 D。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CDE8E-E560-4786-8534-F1BD971C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27C365-F4B7-481B-901F-7065F5E3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7E833D-419D-4BF0-9593-03D5ECCF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86200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遍历 scores，逐行打印“第 i 人：分数，等级”。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B8F3B5-01AF-4471-9B67-39CCC44A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481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5661C3-E891-4EBF-86D1-06FF07F4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672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313849-57CD-4E5F-BA12-8BD89D44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9600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不要把等级规则复制三遍，必须复用 gradeOf。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EBC387-82EE-4458-A0A3-8C9FE8E2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86075"/>
            <a:ext cx="3962400" cy="23241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208772-6D44-48D9-B186-BA667923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76F51"/>
                </a:solidFill>
              </a:defRPr>
            </a:pPr>
            <a:r>
              <a:rPr sz="1875" b="1">
                <a:solidFill>
                  <a:srgbClr val="E76F51"/>
                </a:solidFill>
              </a:rPr>
              <a:t>验收条件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A93E49-68A3-4130-9709-1A6D2FE2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4807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✓ 88 输出 B，60 输出 C，59 输出 D。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AD8289-3183-4E9E-BCDC-B7D5B844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529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✓ 空输入不会崩溃。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ECF7DB-D724-4030-B47C-3F43426A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577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✓ main 仍然只负责组装流程。</a:t>
            </a:r>
          </a:p>
        </p:txBody>
      </p:sp>
    </p:spTree>
    <p:extLst>
      <p:ext uri="{BB962C8B-B14F-4D97-AF65-F5344CB8AC3E}">
        <p14:creationId xmlns:p14="http://schemas.microsoft.com/office/powerpoint/2010/main" val="39508560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B76138-F621-4572-8DEC-0CE80F00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57195-CF7C-4149-8F4C-21CA1454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B8C"/>
                </a:solidFill>
              </a:defRPr>
            </a:pPr>
            <a:r>
              <a:rPr sz="1350" b="1">
                <a:solidFill>
                  <a:srgbClr val="009B8C"/>
                </a:solidFill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13E75-2C65-4952-949E-68D89919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参考实现：等级函数的条件顺序很重要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B0354-C06D-432D-AB4C-3E88D3B9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67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从高到低判断，避免 95 先落入 60+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F3FA4-18F9-4829-84B7-453C1FF2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2026 新生暑期技术实践培训 · C++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36590-0815-4F4D-99F4-F05439D1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28 / 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EA321-7D22-4DA7-AF3B-E73674A3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858000" cy="4438650"/>
          </a:xfrm>
          <a:prstGeom xmlns:a="http://schemas.openxmlformats.org/drawingml/2006/main" prst="roundRect">
            <a:avLst>
              <a:gd name="adj" fmla="val 343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C10E1-8F79-4AF5-80E5-950DE74B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char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gradeOf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int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{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FDACD-55D6-4453-8692-7E1C210B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if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&gt;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=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E68A"/>
                </a:solidFill>
                <a:latin typeface="Menlo"/>
                <a:ea typeface="Menlo"/>
                <a:cs typeface="Menlo"/>
              </a:rPr>
              <a:t>90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return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'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A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'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35CC29-369B-4209-B769-83160D1B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if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&gt;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=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E68A"/>
                </a:solidFill>
                <a:latin typeface="Menlo"/>
                <a:ea typeface="Menlo"/>
                <a:cs typeface="Menlo"/>
              </a:rPr>
              <a:t>80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return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'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B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'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C271F1-4CDD-4041-8F47-F069385D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if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(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score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&gt;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=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FDE68A"/>
                </a:solidFill>
                <a:latin typeface="Menlo"/>
                <a:ea typeface="Menlo"/>
                <a:cs typeface="Menlo"/>
              </a:rPr>
              <a:t>60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return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'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C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'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456EE-F8D9-4076-B9BB-2F543512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</a:t>
            </a:r>
            <a:r>
              <a:rPr sz="1050">
                <a:solidFill>
                  <a:srgbClr val="C4B5FD"/>
                </a:solidFill>
                <a:latin typeface="Menlo"/>
                <a:ea typeface="Menlo"/>
                <a:cs typeface="Menlo"/>
              </a:rPr>
              <a:t>return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 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'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D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'</a:t>
            </a:r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352EA3-5328-463C-A97A-8C3C5D6D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77DDA0-5D31-4F0C-85F3-38B51272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81125"/>
            <a:ext cx="3581400" cy="44386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C4ABBC-DEAB-4F03-8B0A-9CD0C2B5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57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9B8C"/>
                </a:solidFill>
              </a:defRPr>
            </a:pPr>
            <a:r>
              <a:rPr sz="1650" b="1">
                <a:solidFill>
                  <a:srgbClr val="009B8C"/>
                </a:solidFill>
              </a:rPr>
              <a:t>读代码时，先问三个问题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C5BDF-5ACE-479E-89EE-C346C7FF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526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6E7267-645A-4C1B-917F-90D2EF94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条件是从上到下执行的。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DDCB58-8DA2-4F17-945F-3E3E5BA7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956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76791D-F4C8-486D-8899-2E23038D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956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95 既 &gt;= 60 也 &gt;= 90，所以要先判断 90。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60E9D6-0B2E-4D89-8A9E-69E11981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74344B-E21B-4C83-A7D0-A5964A4E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char 用单引号，string 用双引号。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4D84DC-E10F-4533-A153-A5B62E63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53000"/>
            <a:ext cx="28765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7CACDC-8814-4077-9DF3-1712CCC9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482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运行后，先观察输出，再改一个值验证理解。</a:t>
            </a:r>
          </a:p>
        </p:txBody>
      </p:sp>
    </p:spTree>
    <p:extLst>
      <p:ext uri="{BB962C8B-B14F-4D97-AF65-F5344CB8AC3E}">
        <p14:creationId xmlns:p14="http://schemas.microsoft.com/office/powerpoint/2010/main" val="131758959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C1C38E-190F-4E2E-A632-207C3463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4A9C5-4955-4B38-A2B0-DD07826B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B8C"/>
                </a:solidFill>
              </a:defRPr>
            </a:pPr>
            <a:r>
              <a:rPr sz="1350" b="1">
                <a:solidFill>
                  <a:srgbClr val="009B8C"/>
                </a:solidFill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007BF-3193-406E-A064-5C17C0C8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本讲带走的 6 个能力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5029B-8A4E-4590-BC51-AA13785F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67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下一讲会把数据与行为放进一个“对象”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33586-C8E5-4732-949D-3D2E2E65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2026 新生暑期技术实践培训 · C++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2D4C3-DC5F-485C-9AE9-0DA27168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29 / 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10B1A-3D3B-46D4-B93D-748F7E2B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14300" cy="443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68523-DEF4-4533-A466-AFD47C5C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4954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9B8C"/>
                </a:solidFill>
              </a:defRPr>
            </a:pPr>
            <a:r>
              <a:rPr sz="2025" b="1">
                <a:solidFill>
                  <a:srgbClr val="009B8C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D0FF1-53CE-4432-86DD-EDF757DB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954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A43"/>
                </a:solidFill>
              </a:defRPr>
            </a:pPr>
            <a:r>
              <a:rPr sz="1875" b="0">
                <a:solidFill>
                  <a:srgbClr val="102A43"/>
                </a:solidFill>
              </a:rPr>
              <a:t>用函数命名重复动作。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D07154-6937-429A-821E-7A3F9159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764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9B8C"/>
                </a:solidFill>
              </a:defRPr>
            </a:pPr>
            <a:r>
              <a:rPr sz="2025" b="1">
                <a:solidFill>
                  <a:srgbClr val="009B8C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B5C9C8-AB43-4E1C-910D-56AD82EF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764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A43"/>
                </a:solidFill>
              </a:defRPr>
            </a:pPr>
            <a:r>
              <a:rPr sz="1875" b="0">
                <a:solidFill>
                  <a:srgbClr val="102A43"/>
                </a:solidFill>
              </a:rPr>
              <a:t>用参数输入、用 return 输出。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CB5ADB-21E6-4CE7-AE47-3D5BEE60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575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9B8C"/>
                </a:solidFill>
              </a:defRPr>
            </a:pPr>
            <a:r>
              <a:rPr sz="2025" b="1">
                <a:solidFill>
                  <a:srgbClr val="009B8C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8537B9-6540-4A52-A418-040714AB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575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A43"/>
                </a:solidFill>
              </a:defRPr>
            </a:pPr>
            <a:r>
              <a:rPr sz="1875" b="0">
                <a:solidFill>
                  <a:srgbClr val="102A43"/>
                </a:solidFill>
              </a:rPr>
              <a:t>知道作用域为什么能减少混乱。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29A8CF-1FB0-4CCC-9EE0-BF230610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8385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9B8C"/>
                </a:solidFill>
              </a:defRPr>
            </a:pPr>
            <a:r>
              <a:rPr sz="2025" b="1">
                <a:solidFill>
                  <a:srgbClr val="009B8C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92505C-8E98-447B-AA60-199EB804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385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A43"/>
                </a:solidFill>
              </a:defRPr>
            </a:pPr>
            <a:r>
              <a:rPr sz="1875" b="0">
                <a:solidFill>
                  <a:srgbClr val="102A43"/>
                </a:solidFill>
              </a:rPr>
              <a:t>用 string 接收和处理文本。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5F398A-9C19-4AD3-8483-4CF85983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6196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9B8C"/>
                </a:solidFill>
              </a:defRPr>
            </a:pPr>
            <a:r>
              <a:rPr sz="2025" b="1">
                <a:solidFill>
                  <a:srgbClr val="009B8C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890E44-EFDA-4987-B40B-2BD5DA3E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196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A43"/>
                </a:solidFill>
              </a:defRPr>
            </a:pPr>
            <a:r>
              <a:rPr sz="1875" b="0">
                <a:solidFill>
                  <a:srgbClr val="102A43"/>
                </a:solidFill>
              </a:rPr>
              <a:t>用 vector 管理一组数据。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E815E4-813E-4C2A-8643-FF75DFFC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4006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9B8C"/>
                </a:solidFill>
              </a:defRPr>
            </a:pPr>
            <a:r>
              <a:rPr sz="2025" b="1">
                <a:solidFill>
                  <a:srgbClr val="009B8C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5017A0-7E7E-4730-B221-755B00FA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006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A43"/>
                </a:solidFill>
              </a:defRPr>
            </a:pPr>
            <a:r>
              <a:rPr sz="1875" b="0">
                <a:solidFill>
                  <a:srgbClr val="102A43"/>
                </a:solidFill>
              </a:rPr>
              <a:t>能完成一个小型统计器并做边界测试。</a:t>
            </a:r>
          </a:p>
        </p:txBody>
      </p:sp>
    </p:spTree>
    <p:extLst>
      <p:ext uri="{BB962C8B-B14F-4D97-AF65-F5344CB8AC3E}">
        <p14:creationId xmlns:p14="http://schemas.microsoft.com/office/powerpoint/2010/main" val="192342050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36FC26-34B8-4C1A-A499-2F365559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5FCFC-4956-4D8D-BB30-BD3334C7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B8C"/>
                </a:solidFill>
              </a:defRPr>
            </a:pPr>
            <a:r>
              <a:rPr sz="1350" b="1">
                <a:solidFill>
                  <a:srgbClr val="009B8C"/>
                </a:solidFill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39217-6F1A-415E-A162-58FF53AE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课后挑战：给统计器增加“低分预警”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8AC9D-758C-4951-8689-D9DD1927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67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动手写，才会变成自己的能力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F2C7F-D9FC-4AD1-A1F0-631DCD6F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2026 新生暑期技术实践培训 · C++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BB291-9658-4E59-9A7E-7B624B1B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30 / 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E6073-82D2-4EA8-8A5F-7420A059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0135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E632DB-6111-43CF-AEC3-FF5450D5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647825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课后挑战：给统计器增加“低分预警”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8BABAE-3C2E-4A9B-9428-A7285571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9B8C"/>
                </a:solidFill>
              </a:defRPr>
            </a:pPr>
            <a:r>
              <a:rPr sz="1875" b="1">
                <a:solidFill>
                  <a:srgbClr val="009B8C"/>
                </a:solidFill>
              </a:rPr>
              <a:t>建议步骤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5A1A4-EEE8-47C3-8F6F-F6546B02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60A7A-7681-4CD0-90A0-57AC337C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04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E504C5-C7E3-4F1B-BE56-6E520F59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写 countBelow(scores, threshold)。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984EAC-75C4-4BF5-AACF-4EF3F297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52E56-51FA-4382-817B-AD417C7D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D7B914-49F0-4A2D-8784-6B6B5C64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86200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输入一个 threshold，例如 60。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1AE85E-1700-4947-BF03-CEB29AA2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481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05C848-E132-4817-9F43-AD6CA238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672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398073-AA7C-41AB-B91D-D82FD3EB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9600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报告低于阈值的人数，并列出其分数。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D70D88-BE7B-4321-A514-8FCA7912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86075"/>
            <a:ext cx="3962400" cy="23241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158B8B-3CF6-49E7-B41D-92C9C886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76F51"/>
                </a:solidFill>
              </a:defRPr>
            </a:pPr>
            <a:r>
              <a:rPr sz="1875" b="1">
                <a:solidFill>
                  <a:srgbClr val="E76F51"/>
                </a:solidFill>
              </a:rPr>
              <a:t>验收条件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A90F45-5410-48B3-B60F-F64F7C55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4807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✓ 没有低分时输出 0。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147648-50D2-44CB-A68E-1FFDCCF0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529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✓ 所有人低分时计数正确。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58D090-A34D-4B8D-AD91-1EED680D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577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✓ 函数不修改原 scores。</a:t>
            </a:r>
          </a:p>
        </p:txBody>
      </p:sp>
    </p:spTree>
    <p:extLst>
      <p:ext uri="{BB962C8B-B14F-4D97-AF65-F5344CB8AC3E}">
        <p14:creationId xmlns:p14="http://schemas.microsoft.com/office/powerpoint/2010/main" val="8532979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2026-08-01T07:03:24.0990000Z</dcterms:created>
  <dcterms:modified xsi:type="dcterms:W3CDTF">2026-08-01T07:03:24.0990000Z</dcterms:modified>
</coreProperties>
</file>